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25"/>
  </p:notesMasterIdLst>
  <p:sldIdLst>
    <p:sldId id="256" r:id="rId2"/>
    <p:sldId id="258" r:id="rId3"/>
    <p:sldId id="259" r:id="rId4"/>
    <p:sldId id="287" r:id="rId5"/>
    <p:sldId id="271" r:id="rId6"/>
    <p:sldId id="272" r:id="rId7"/>
    <p:sldId id="274" r:id="rId8"/>
    <p:sldId id="273" r:id="rId9"/>
    <p:sldId id="275" r:id="rId10"/>
    <p:sldId id="277" r:id="rId11"/>
    <p:sldId id="278" r:id="rId12"/>
    <p:sldId id="279" r:id="rId13"/>
    <p:sldId id="280" r:id="rId14"/>
    <p:sldId id="281" r:id="rId15"/>
    <p:sldId id="282" r:id="rId16"/>
    <p:sldId id="283" r:id="rId17"/>
    <p:sldId id="284" r:id="rId18"/>
    <p:sldId id="276" r:id="rId19"/>
    <p:sldId id="285" r:id="rId20"/>
    <p:sldId id="286" r:id="rId21"/>
    <p:sldId id="266" r:id="rId22"/>
    <p:sldId id="267" r:id="rId23"/>
    <p:sldId id="268"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70" d="100"/>
          <a:sy n="70" d="100"/>
        </p:scale>
        <p:origin x="73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E74C5B-2672-4ECF-B860-8DE1329C16C1}"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4EDAC842-54C1-4E7F-9C98-8C5BC48DF79C}">
      <dgm:prSet/>
      <dgm:spPr/>
      <dgm:t>
        <a:bodyPr/>
        <a:lstStyle/>
        <a:p>
          <a:pPr>
            <a:lnSpc>
              <a:spcPct val="100000"/>
            </a:lnSpc>
          </a:pPr>
          <a:r>
            <a:rPr lang="en-US">
              <a:latin typeface="Aptos" panose="020B0004020202020204" pitchFamily="34" charset="0"/>
              <a:cs typeface="Arial" panose="020B0604020202020204" pitchFamily="34" charset="0"/>
            </a:rPr>
            <a:t>Introduction</a:t>
          </a:r>
        </a:p>
      </dgm:t>
    </dgm:pt>
    <dgm:pt modelId="{8A9768EE-D4B5-4877-8945-04D7A6F873D0}" type="parTrans" cxnId="{0FC86AA2-0CF8-4CBE-B00F-D2424F4AD4D9}">
      <dgm:prSet/>
      <dgm:spPr/>
      <dgm:t>
        <a:bodyPr/>
        <a:lstStyle/>
        <a:p>
          <a:endParaRPr lang="en-US">
            <a:latin typeface="Arial" panose="020B0604020202020204" pitchFamily="34" charset="0"/>
            <a:cs typeface="Arial" panose="020B0604020202020204" pitchFamily="34" charset="0"/>
          </a:endParaRPr>
        </a:p>
      </dgm:t>
    </dgm:pt>
    <dgm:pt modelId="{0961DAFC-C41B-4379-B2B8-0BD3DC46A803}" type="sibTrans" cxnId="{0FC86AA2-0CF8-4CBE-B00F-D2424F4AD4D9}">
      <dgm:prSet/>
      <dgm:spPr/>
      <dgm:t>
        <a:bodyPr/>
        <a:lstStyle/>
        <a:p>
          <a:endParaRPr lang="en-US">
            <a:latin typeface="Arial" panose="020B0604020202020204" pitchFamily="34" charset="0"/>
            <a:cs typeface="Arial" panose="020B0604020202020204" pitchFamily="34" charset="0"/>
          </a:endParaRPr>
        </a:p>
      </dgm:t>
    </dgm:pt>
    <dgm:pt modelId="{647BFA5B-F7D8-4C05-9BA8-13920309D771}">
      <dgm:prSet/>
      <dgm:spPr/>
      <dgm:t>
        <a:bodyPr/>
        <a:lstStyle/>
        <a:p>
          <a:pPr>
            <a:lnSpc>
              <a:spcPct val="100000"/>
            </a:lnSpc>
          </a:pPr>
          <a:r>
            <a:rPr lang="en-US" dirty="0">
              <a:latin typeface="Aptos" panose="020B0004020202020204" pitchFamily="34" charset="0"/>
              <a:cs typeface="Arial" panose="020B0604020202020204" pitchFamily="34" charset="0"/>
            </a:rPr>
            <a:t>Implementation</a:t>
          </a:r>
        </a:p>
      </dgm:t>
    </dgm:pt>
    <dgm:pt modelId="{4954730A-600D-44CD-B842-1B8E3CF0DE17}" type="parTrans" cxnId="{D281C8D0-F024-42F8-A930-C0EF5082DD38}">
      <dgm:prSet/>
      <dgm:spPr/>
      <dgm:t>
        <a:bodyPr/>
        <a:lstStyle/>
        <a:p>
          <a:endParaRPr lang="en-US">
            <a:latin typeface="Arial" panose="020B0604020202020204" pitchFamily="34" charset="0"/>
            <a:cs typeface="Arial" panose="020B0604020202020204" pitchFamily="34" charset="0"/>
          </a:endParaRPr>
        </a:p>
      </dgm:t>
    </dgm:pt>
    <dgm:pt modelId="{15F1B1B3-C3AA-4F28-8C57-641B81DC8069}" type="sibTrans" cxnId="{D281C8D0-F024-42F8-A930-C0EF5082DD38}">
      <dgm:prSet/>
      <dgm:spPr/>
      <dgm:t>
        <a:bodyPr/>
        <a:lstStyle/>
        <a:p>
          <a:endParaRPr lang="en-US">
            <a:latin typeface="Arial" panose="020B0604020202020204" pitchFamily="34" charset="0"/>
            <a:cs typeface="Arial" panose="020B0604020202020204" pitchFamily="34" charset="0"/>
          </a:endParaRPr>
        </a:p>
      </dgm:t>
    </dgm:pt>
    <dgm:pt modelId="{B905B68A-066B-4908-B61F-6B62477006D9}">
      <dgm:prSet/>
      <dgm:spPr/>
      <dgm:t>
        <a:bodyPr/>
        <a:lstStyle/>
        <a:p>
          <a:pPr>
            <a:lnSpc>
              <a:spcPct val="100000"/>
            </a:lnSpc>
          </a:pPr>
          <a:r>
            <a:rPr lang="en-US">
              <a:latin typeface="Aptos" panose="020B0004020202020204" pitchFamily="34" charset="0"/>
              <a:cs typeface="Arial" panose="020B0604020202020204" pitchFamily="34" charset="0"/>
            </a:rPr>
            <a:t>Results</a:t>
          </a:r>
        </a:p>
      </dgm:t>
    </dgm:pt>
    <dgm:pt modelId="{BB2520BC-3753-41D2-952B-A1749C2A13F0}" type="parTrans" cxnId="{2BB80D96-CF72-4E11-8F60-352E5EFD92C1}">
      <dgm:prSet/>
      <dgm:spPr/>
      <dgm:t>
        <a:bodyPr/>
        <a:lstStyle/>
        <a:p>
          <a:endParaRPr lang="en-US">
            <a:latin typeface="Arial" panose="020B0604020202020204" pitchFamily="34" charset="0"/>
            <a:cs typeface="Arial" panose="020B0604020202020204" pitchFamily="34" charset="0"/>
          </a:endParaRPr>
        </a:p>
      </dgm:t>
    </dgm:pt>
    <dgm:pt modelId="{175A182C-321A-4246-8514-93951525A4A3}" type="sibTrans" cxnId="{2BB80D96-CF72-4E11-8F60-352E5EFD92C1}">
      <dgm:prSet/>
      <dgm:spPr/>
      <dgm:t>
        <a:bodyPr/>
        <a:lstStyle/>
        <a:p>
          <a:endParaRPr lang="en-US">
            <a:latin typeface="Arial" panose="020B0604020202020204" pitchFamily="34" charset="0"/>
            <a:cs typeface="Arial" panose="020B0604020202020204" pitchFamily="34" charset="0"/>
          </a:endParaRPr>
        </a:p>
      </dgm:t>
    </dgm:pt>
    <dgm:pt modelId="{DE61E1BE-3107-4AF5-85D6-2010DA115631}">
      <dgm:prSet/>
      <dgm:spPr/>
      <dgm:t>
        <a:bodyPr/>
        <a:lstStyle/>
        <a:p>
          <a:pPr>
            <a:lnSpc>
              <a:spcPct val="100000"/>
            </a:lnSpc>
          </a:pPr>
          <a:r>
            <a:rPr lang="en-US">
              <a:latin typeface="Aptos" panose="020B0004020202020204" pitchFamily="34" charset="0"/>
              <a:cs typeface="Arial" panose="020B0604020202020204" pitchFamily="34" charset="0"/>
            </a:rPr>
            <a:t>Conclusion</a:t>
          </a:r>
        </a:p>
      </dgm:t>
    </dgm:pt>
    <dgm:pt modelId="{E7309761-06F3-48A5-8ED7-4063BDB48E0A}" type="parTrans" cxnId="{1CEF58B7-4319-45B5-8B96-D532DD5516E6}">
      <dgm:prSet/>
      <dgm:spPr/>
      <dgm:t>
        <a:bodyPr/>
        <a:lstStyle/>
        <a:p>
          <a:endParaRPr lang="en-US">
            <a:latin typeface="Arial" panose="020B0604020202020204" pitchFamily="34" charset="0"/>
            <a:cs typeface="Arial" panose="020B0604020202020204" pitchFamily="34" charset="0"/>
          </a:endParaRPr>
        </a:p>
      </dgm:t>
    </dgm:pt>
    <dgm:pt modelId="{D189DA1F-5CB5-4B59-9F16-9C0AA45FE0B6}" type="sibTrans" cxnId="{1CEF58B7-4319-45B5-8B96-D532DD5516E6}">
      <dgm:prSet/>
      <dgm:spPr/>
      <dgm:t>
        <a:bodyPr/>
        <a:lstStyle/>
        <a:p>
          <a:endParaRPr lang="en-US">
            <a:latin typeface="Arial" panose="020B0604020202020204" pitchFamily="34" charset="0"/>
            <a:cs typeface="Arial" panose="020B0604020202020204" pitchFamily="34" charset="0"/>
          </a:endParaRPr>
        </a:p>
      </dgm:t>
    </dgm:pt>
    <dgm:pt modelId="{1C327870-1BEC-49D2-891F-A2C61E4221D7}">
      <dgm:prSet/>
      <dgm:spPr/>
      <dgm:t>
        <a:bodyPr/>
        <a:lstStyle/>
        <a:p>
          <a:pPr>
            <a:lnSpc>
              <a:spcPct val="100000"/>
            </a:lnSpc>
          </a:pPr>
          <a:r>
            <a:rPr lang="en-US">
              <a:latin typeface="Aptos" panose="020B0004020202020204" pitchFamily="34" charset="0"/>
              <a:cs typeface="Arial" panose="020B0604020202020204" pitchFamily="34" charset="0"/>
            </a:rPr>
            <a:t>References</a:t>
          </a:r>
        </a:p>
      </dgm:t>
    </dgm:pt>
    <dgm:pt modelId="{D7F31CE7-E852-4CCC-86CB-87C3CB0755B5}" type="parTrans" cxnId="{BC137CA9-F8DA-4602-B882-270EC46523B5}">
      <dgm:prSet/>
      <dgm:spPr/>
      <dgm:t>
        <a:bodyPr/>
        <a:lstStyle/>
        <a:p>
          <a:endParaRPr lang="en-US">
            <a:latin typeface="Arial" panose="020B0604020202020204" pitchFamily="34" charset="0"/>
            <a:cs typeface="Arial" panose="020B0604020202020204" pitchFamily="34" charset="0"/>
          </a:endParaRPr>
        </a:p>
      </dgm:t>
    </dgm:pt>
    <dgm:pt modelId="{0B580D40-5283-48AA-A081-0CCE0E718FC1}" type="sibTrans" cxnId="{BC137CA9-F8DA-4602-B882-270EC46523B5}">
      <dgm:prSet/>
      <dgm:spPr/>
      <dgm:t>
        <a:bodyPr/>
        <a:lstStyle/>
        <a:p>
          <a:endParaRPr lang="en-US">
            <a:latin typeface="Arial" panose="020B0604020202020204" pitchFamily="34" charset="0"/>
            <a:cs typeface="Arial" panose="020B0604020202020204" pitchFamily="34" charset="0"/>
          </a:endParaRPr>
        </a:p>
      </dgm:t>
    </dgm:pt>
    <dgm:pt modelId="{555B8B5B-EF9B-4E72-A1BF-690C8541687B}">
      <dgm:prSet/>
      <dgm:spPr/>
      <dgm:t>
        <a:bodyPr/>
        <a:lstStyle/>
        <a:p>
          <a:pPr>
            <a:lnSpc>
              <a:spcPct val="100000"/>
            </a:lnSpc>
          </a:pPr>
          <a:r>
            <a:rPr lang="en-US">
              <a:latin typeface="Aptos" panose="020B0004020202020204" pitchFamily="34" charset="0"/>
              <a:cs typeface="Arial" panose="020B0604020202020204" pitchFamily="34" charset="0"/>
            </a:rPr>
            <a:t>Project Objective</a:t>
          </a:r>
        </a:p>
      </dgm:t>
    </dgm:pt>
    <dgm:pt modelId="{247DBD04-D25A-487D-96A2-F0504FD4DEB9}" type="parTrans" cxnId="{B79BE8E6-3E35-47A2-B14D-4C905CB2E8CF}">
      <dgm:prSet/>
      <dgm:spPr/>
      <dgm:t>
        <a:bodyPr/>
        <a:lstStyle/>
        <a:p>
          <a:endParaRPr lang="en-US">
            <a:latin typeface="Arial" panose="020B0604020202020204" pitchFamily="34" charset="0"/>
            <a:cs typeface="Arial" panose="020B0604020202020204" pitchFamily="34" charset="0"/>
          </a:endParaRPr>
        </a:p>
      </dgm:t>
    </dgm:pt>
    <dgm:pt modelId="{567852B4-1E10-42B4-BD3E-93F3BA689CD8}" type="sibTrans" cxnId="{B79BE8E6-3E35-47A2-B14D-4C905CB2E8CF}">
      <dgm:prSet/>
      <dgm:spPr/>
      <dgm:t>
        <a:bodyPr/>
        <a:lstStyle/>
        <a:p>
          <a:endParaRPr lang="en-US">
            <a:latin typeface="Arial" panose="020B0604020202020204" pitchFamily="34" charset="0"/>
            <a:cs typeface="Arial" panose="020B0604020202020204" pitchFamily="34" charset="0"/>
          </a:endParaRPr>
        </a:p>
      </dgm:t>
    </dgm:pt>
    <dgm:pt modelId="{304C74C4-7F63-466D-81AB-68CF38E391E9}" type="pres">
      <dgm:prSet presAssocID="{25E74C5B-2672-4ECF-B860-8DE1329C16C1}" presName="root" presStyleCnt="0">
        <dgm:presLayoutVars>
          <dgm:dir/>
          <dgm:resizeHandles val="exact"/>
        </dgm:presLayoutVars>
      </dgm:prSet>
      <dgm:spPr/>
      <dgm:t>
        <a:bodyPr/>
        <a:lstStyle/>
        <a:p>
          <a:endParaRPr lang="en-US"/>
        </a:p>
      </dgm:t>
    </dgm:pt>
    <dgm:pt modelId="{81784343-788E-41CB-B4EC-4AC10468D5D3}" type="pres">
      <dgm:prSet presAssocID="{4EDAC842-54C1-4E7F-9C98-8C5BC48DF79C}" presName="compNode" presStyleCnt="0"/>
      <dgm:spPr/>
    </dgm:pt>
    <dgm:pt modelId="{9482CFC1-1339-487B-B9B2-7316F7A06163}" type="pres">
      <dgm:prSet presAssocID="{4EDAC842-54C1-4E7F-9C98-8C5BC48DF79C}" presName="iconRect" presStyleLbl="node1" presStyleIdx="0" presStyleCnt="6"/>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Document"/>
        </a:ext>
      </dgm:extLst>
    </dgm:pt>
    <dgm:pt modelId="{4F0565A6-5A56-447C-A7D6-AAD9CA675252}" type="pres">
      <dgm:prSet presAssocID="{4EDAC842-54C1-4E7F-9C98-8C5BC48DF79C}" presName="spaceRect" presStyleCnt="0"/>
      <dgm:spPr/>
    </dgm:pt>
    <dgm:pt modelId="{14189B67-782B-454A-AB4F-539B0F1DF49E}" type="pres">
      <dgm:prSet presAssocID="{4EDAC842-54C1-4E7F-9C98-8C5BC48DF79C}" presName="textRect" presStyleLbl="revTx" presStyleIdx="0" presStyleCnt="6">
        <dgm:presLayoutVars>
          <dgm:chMax val="1"/>
          <dgm:chPref val="1"/>
        </dgm:presLayoutVars>
      </dgm:prSet>
      <dgm:spPr/>
      <dgm:t>
        <a:bodyPr/>
        <a:lstStyle/>
        <a:p>
          <a:endParaRPr lang="en-US"/>
        </a:p>
      </dgm:t>
    </dgm:pt>
    <dgm:pt modelId="{64BEFC8C-05C6-4D1F-AB35-DBAD2164D84A}" type="pres">
      <dgm:prSet presAssocID="{0961DAFC-C41B-4379-B2B8-0BD3DC46A803}" presName="sibTrans" presStyleCnt="0"/>
      <dgm:spPr/>
    </dgm:pt>
    <dgm:pt modelId="{AA1827F2-ECFD-4054-82FC-2F910E199964}" type="pres">
      <dgm:prSet presAssocID="{555B8B5B-EF9B-4E72-A1BF-690C8541687B}" presName="compNode" presStyleCnt="0"/>
      <dgm:spPr/>
    </dgm:pt>
    <dgm:pt modelId="{EECE7CBE-338D-46DA-BE3D-3B73DCF84996}" type="pres">
      <dgm:prSet presAssocID="{555B8B5B-EF9B-4E72-A1BF-690C8541687B}" presName="iconRect" presStyleLbl="node1" presStyleIdx="1" presStyleCnt="6"/>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Bar chart"/>
        </a:ext>
      </dgm:extLst>
    </dgm:pt>
    <dgm:pt modelId="{64DB3D1D-F746-4132-9E04-1B6391001C1F}" type="pres">
      <dgm:prSet presAssocID="{555B8B5B-EF9B-4E72-A1BF-690C8541687B}" presName="spaceRect" presStyleCnt="0"/>
      <dgm:spPr/>
    </dgm:pt>
    <dgm:pt modelId="{A549B15F-4E9A-4B58-8F61-8AE7255B9D15}" type="pres">
      <dgm:prSet presAssocID="{555B8B5B-EF9B-4E72-A1BF-690C8541687B}" presName="textRect" presStyleLbl="revTx" presStyleIdx="1" presStyleCnt="6">
        <dgm:presLayoutVars>
          <dgm:chMax val="1"/>
          <dgm:chPref val="1"/>
        </dgm:presLayoutVars>
      </dgm:prSet>
      <dgm:spPr/>
      <dgm:t>
        <a:bodyPr/>
        <a:lstStyle/>
        <a:p>
          <a:endParaRPr lang="en-US"/>
        </a:p>
      </dgm:t>
    </dgm:pt>
    <dgm:pt modelId="{54667BFA-16DA-425D-B05B-BF97227F7192}" type="pres">
      <dgm:prSet presAssocID="{567852B4-1E10-42B4-BD3E-93F3BA689CD8}" presName="sibTrans" presStyleCnt="0"/>
      <dgm:spPr/>
    </dgm:pt>
    <dgm:pt modelId="{3E7E61F2-8323-4FDB-A815-2BEC8BD36734}" type="pres">
      <dgm:prSet presAssocID="{647BFA5B-F7D8-4C05-9BA8-13920309D771}" presName="compNode" presStyleCnt="0"/>
      <dgm:spPr/>
    </dgm:pt>
    <dgm:pt modelId="{ECF03F46-F5D7-4C1B-98D3-4D76E9F06C06}" type="pres">
      <dgm:prSet presAssocID="{647BFA5B-F7D8-4C05-9BA8-13920309D771}" presName="iconRect" presStyleLbl="node1" presStyleIdx="2" presStyleCnt="6"/>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a:noFill/>
        </a:ln>
      </dgm:spPr>
      <dgm:t>
        <a:bodyPr/>
        <a:lstStyle/>
        <a:p>
          <a:endParaRPr lang="en-US"/>
        </a:p>
      </dgm:t>
      <dgm:extLst>
        <a:ext uri="{E40237B7-FDA0-4F09-8148-C483321AD2D9}">
          <dgm14:cNvPr xmlns:dgm14="http://schemas.microsoft.com/office/drawing/2010/diagram" id="0" name="" descr="Checkmark"/>
        </a:ext>
      </dgm:extLst>
    </dgm:pt>
    <dgm:pt modelId="{68158ABF-62DE-4D88-8C7D-70DA3644447F}" type="pres">
      <dgm:prSet presAssocID="{647BFA5B-F7D8-4C05-9BA8-13920309D771}" presName="spaceRect" presStyleCnt="0"/>
      <dgm:spPr/>
    </dgm:pt>
    <dgm:pt modelId="{1F807767-40A8-413F-889B-B5039E41FB50}" type="pres">
      <dgm:prSet presAssocID="{647BFA5B-F7D8-4C05-9BA8-13920309D771}" presName="textRect" presStyleLbl="revTx" presStyleIdx="2" presStyleCnt="6">
        <dgm:presLayoutVars>
          <dgm:chMax val="1"/>
          <dgm:chPref val="1"/>
        </dgm:presLayoutVars>
      </dgm:prSet>
      <dgm:spPr/>
      <dgm:t>
        <a:bodyPr/>
        <a:lstStyle/>
        <a:p>
          <a:endParaRPr lang="en-US"/>
        </a:p>
      </dgm:t>
    </dgm:pt>
    <dgm:pt modelId="{4215AEA0-04B1-492E-80A8-5331BF7730C5}" type="pres">
      <dgm:prSet presAssocID="{15F1B1B3-C3AA-4F28-8C57-641B81DC8069}" presName="sibTrans" presStyleCnt="0"/>
      <dgm:spPr/>
    </dgm:pt>
    <dgm:pt modelId="{E6036417-89BD-4157-8120-4970E2B39F6B}" type="pres">
      <dgm:prSet presAssocID="{B905B68A-066B-4908-B61F-6B62477006D9}" presName="compNode" presStyleCnt="0"/>
      <dgm:spPr/>
    </dgm:pt>
    <dgm:pt modelId="{1FD52781-51D7-4270-93BE-0B5A1646882B}" type="pres">
      <dgm:prSet presAssocID="{B905B68A-066B-4908-B61F-6B62477006D9}" presName="iconRect" presStyleLbl="node1" presStyleIdx="3" presStyleCnt="6"/>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a:noFill/>
        </a:ln>
      </dgm:spPr>
      <dgm:t>
        <a:bodyPr/>
        <a:lstStyle/>
        <a:p>
          <a:endParaRPr lang="en-US"/>
        </a:p>
      </dgm:t>
      <dgm:extLst>
        <a:ext uri="{E40237B7-FDA0-4F09-8148-C483321AD2D9}">
          <dgm14:cNvPr xmlns:dgm14="http://schemas.microsoft.com/office/drawing/2010/diagram" id="0" name="" descr="Checkmark"/>
        </a:ext>
      </dgm:extLst>
    </dgm:pt>
    <dgm:pt modelId="{681BEFDD-CB5A-48BE-B8BF-B7CCFC879DC4}" type="pres">
      <dgm:prSet presAssocID="{B905B68A-066B-4908-B61F-6B62477006D9}" presName="spaceRect" presStyleCnt="0"/>
      <dgm:spPr/>
    </dgm:pt>
    <dgm:pt modelId="{2F3064E7-8078-4B0E-8356-51AD90E234CA}" type="pres">
      <dgm:prSet presAssocID="{B905B68A-066B-4908-B61F-6B62477006D9}" presName="textRect" presStyleLbl="revTx" presStyleIdx="3" presStyleCnt="6">
        <dgm:presLayoutVars>
          <dgm:chMax val="1"/>
          <dgm:chPref val="1"/>
        </dgm:presLayoutVars>
      </dgm:prSet>
      <dgm:spPr/>
      <dgm:t>
        <a:bodyPr/>
        <a:lstStyle/>
        <a:p>
          <a:endParaRPr lang="en-US"/>
        </a:p>
      </dgm:t>
    </dgm:pt>
    <dgm:pt modelId="{DE7DAB89-BE69-47BB-9C76-449CFF2DFA71}" type="pres">
      <dgm:prSet presAssocID="{175A182C-321A-4246-8514-93951525A4A3}" presName="sibTrans" presStyleCnt="0"/>
      <dgm:spPr/>
    </dgm:pt>
    <dgm:pt modelId="{4310CBA7-615E-4F01-BBFB-71242C61567F}" type="pres">
      <dgm:prSet presAssocID="{DE61E1BE-3107-4AF5-85D6-2010DA115631}" presName="compNode" presStyleCnt="0"/>
      <dgm:spPr/>
    </dgm:pt>
    <dgm:pt modelId="{6B6D8941-B195-4E45-908B-7DB08470161E}" type="pres">
      <dgm:prSet presAssocID="{DE61E1BE-3107-4AF5-85D6-2010DA115631}" presName="iconRect" presStyleLbl="node1" presStyleIdx="4" presStyleCnt="6"/>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a:noFill/>
        </a:ln>
      </dgm:spPr>
      <dgm:t>
        <a:bodyPr/>
        <a:lstStyle/>
        <a:p>
          <a:endParaRPr lang="en-US"/>
        </a:p>
      </dgm:t>
      <dgm:extLst>
        <a:ext uri="{E40237B7-FDA0-4F09-8148-C483321AD2D9}">
          <dgm14:cNvPr xmlns:dgm14="http://schemas.microsoft.com/office/drawing/2010/diagram" id="0" name="" descr="Books"/>
        </a:ext>
      </dgm:extLst>
    </dgm:pt>
    <dgm:pt modelId="{D5EDA747-343B-4B8B-B552-CBD8E26CDA4E}" type="pres">
      <dgm:prSet presAssocID="{DE61E1BE-3107-4AF5-85D6-2010DA115631}" presName="spaceRect" presStyleCnt="0"/>
      <dgm:spPr/>
    </dgm:pt>
    <dgm:pt modelId="{7AE32A8A-B008-459B-9A12-792F91A5CCB5}" type="pres">
      <dgm:prSet presAssocID="{DE61E1BE-3107-4AF5-85D6-2010DA115631}" presName="textRect" presStyleLbl="revTx" presStyleIdx="4" presStyleCnt="6">
        <dgm:presLayoutVars>
          <dgm:chMax val="1"/>
          <dgm:chPref val="1"/>
        </dgm:presLayoutVars>
      </dgm:prSet>
      <dgm:spPr/>
      <dgm:t>
        <a:bodyPr/>
        <a:lstStyle/>
        <a:p>
          <a:endParaRPr lang="en-US"/>
        </a:p>
      </dgm:t>
    </dgm:pt>
    <dgm:pt modelId="{21BBB4E9-707A-4BE6-8349-82916E11F5E5}" type="pres">
      <dgm:prSet presAssocID="{D189DA1F-5CB5-4B59-9F16-9C0AA45FE0B6}" presName="sibTrans" presStyleCnt="0"/>
      <dgm:spPr/>
    </dgm:pt>
    <dgm:pt modelId="{818EC85B-C1F4-4464-A7A2-C48F244E4E81}" type="pres">
      <dgm:prSet presAssocID="{1C327870-1BEC-49D2-891F-A2C61E4221D7}" presName="compNode" presStyleCnt="0"/>
      <dgm:spPr/>
    </dgm:pt>
    <dgm:pt modelId="{BDB7D374-8EE5-4BB4-BBBE-05C250E11468}" type="pres">
      <dgm:prSet presAssocID="{1C327870-1BEC-49D2-891F-A2C61E4221D7}" presName="iconRect" presStyleLbl="node1" presStyleIdx="5" presStyleCnt="6"/>
      <dgm:spPr>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a:blipFill>
        <a:ln>
          <a:noFill/>
        </a:ln>
      </dgm:spPr>
      <dgm:t>
        <a:bodyPr/>
        <a:lstStyle/>
        <a:p>
          <a:endParaRPr lang="en-US"/>
        </a:p>
      </dgm:t>
      <dgm:extLst>
        <a:ext uri="{E40237B7-FDA0-4F09-8148-C483321AD2D9}">
          <dgm14:cNvPr xmlns:dgm14="http://schemas.microsoft.com/office/drawing/2010/diagram" id="0" name="" descr="Check List"/>
        </a:ext>
      </dgm:extLst>
    </dgm:pt>
    <dgm:pt modelId="{B270B150-7C2B-4A2C-9823-8769CF2F7DD0}" type="pres">
      <dgm:prSet presAssocID="{1C327870-1BEC-49D2-891F-A2C61E4221D7}" presName="spaceRect" presStyleCnt="0"/>
      <dgm:spPr/>
    </dgm:pt>
    <dgm:pt modelId="{0D69C5E4-0A3C-4832-A770-A8184C370919}" type="pres">
      <dgm:prSet presAssocID="{1C327870-1BEC-49D2-891F-A2C61E4221D7}" presName="textRect" presStyleLbl="revTx" presStyleIdx="5" presStyleCnt="6">
        <dgm:presLayoutVars>
          <dgm:chMax val="1"/>
          <dgm:chPref val="1"/>
        </dgm:presLayoutVars>
      </dgm:prSet>
      <dgm:spPr/>
      <dgm:t>
        <a:bodyPr/>
        <a:lstStyle/>
        <a:p>
          <a:endParaRPr lang="en-US"/>
        </a:p>
      </dgm:t>
    </dgm:pt>
  </dgm:ptLst>
  <dgm:cxnLst>
    <dgm:cxn modelId="{D281C8D0-F024-42F8-A930-C0EF5082DD38}" srcId="{25E74C5B-2672-4ECF-B860-8DE1329C16C1}" destId="{647BFA5B-F7D8-4C05-9BA8-13920309D771}" srcOrd="2" destOrd="0" parTransId="{4954730A-600D-44CD-B842-1B8E3CF0DE17}" sibTransId="{15F1B1B3-C3AA-4F28-8C57-641B81DC8069}"/>
    <dgm:cxn modelId="{2BB80D96-CF72-4E11-8F60-352E5EFD92C1}" srcId="{25E74C5B-2672-4ECF-B860-8DE1329C16C1}" destId="{B905B68A-066B-4908-B61F-6B62477006D9}" srcOrd="3" destOrd="0" parTransId="{BB2520BC-3753-41D2-952B-A1749C2A13F0}" sibTransId="{175A182C-321A-4246-8514-93951525A4A3}"/>
    <dgm:cxn modelId="{0EBD8D0D-C11D-42C6-973C-1A2CD9ED6E7D}" type="presOf" srcId="{B905B68A-066B-4908-B61F-6B62477006D9}" destId="{2F3064E7-8078-4B0E-8356-51AD90E234CA}" srcOrd="0" destOrd="0" presId="urn:microsoft.com/office/officeart/2018/2/layout/IconLabelList"/>
    <dgm:cxn modelId="{BBE9A326-B5A3-43B4-8047-13F5BAE7BB46}" type="presOf" srcId="{25E74C5B-2672-4ECF-B860-8DE1329C16C1}" destId="{304C74C4-7F63-466D-81AB-68CF38E391E9}" srcOrd="0" destOrd="0" presId="urn:microsoft.com/office/officeart/2018/2/layout/IconLabelList"/>
    <dgm:cxn modelId="{BC137CA9-F8DA-4602-B882-270EC46523B5}" srcId="{25E74C5B-2672-4ECF-B860-8DE1329C16C1}" destId="{1C327870-1BEC-49D2-891F-A2C61E4221D7}" srcOrd="5" destOrd="0" parTransId="{D7F31CE7-E852-4CCC-86CB-87C3CB0755B5}" sibTransId="{0B580D40-5283-48AA-A081-0CCE0E718FC1}"/>
    <dgm:cxn modelId="{8841656A-0F07-4665-9B79-F874A87CF7B7}" type="presOf" srcId="{4EDAC842-54C1-4E7F-9C98-8C5BC48DF79C}" destId="{14189B67-782B-454A-AB4F-539B0F1DF49E}" srcOrd="0" destOrd="0" presId="urn:microsoft.com/office/officeart/2018/2/layout/IconLabelList"/>
    <dgm:cxn modelId="{B79BE8E6-3E35-47A2-B14D-4C905CB2E8CF}" srcId="{25E74C5B-2672-4ECF-B860-8DE1329C16C1}" destId="{555B8B5B-EF9B-4E72-A1BF-690C8541687B}" srcOrd="1" destOrd="0" parTransId="{247DBD04-D25A-487D-96A2-F0504FD4DEB9}" sibTransId="{567852B4-1E10-42B4-BD3E-93F3BA689CD8}"/>
    <dgm:cxn modelId="{A58AAF0A-62BB-4467-83E1-D8C35D60B3A8}" type="presOf" srcId="{555B8B5B-EF9B-4E72-A1BF-690C8541687B}" destId="{A549B15F-4E9A-4B58-8F61-8AE7255B9D15}" srcOrd="0" destOrd="0" presId="urn:microsoft.com/office/officeart/2018/2/layout/IconLabelList"/>
    <dgm:cxn modelId="{1CEF58B7-4319-45B5-8B96-D532DD5516E6}" srcId="{25E74C5B-2672-4ECF-B860-8DE1329C16C1}" destId="{DE61E1BE-3107-4AF5-85D6-2010DA115631}" srcOrd="4" destOrd="0" parTransId="{E7309761-06F3-48A5-8ED7-4063BDB48E0A}" sibTransId="{D189DA1F-5CB5-4B59-9F16-9C0AA45FE0B6}"/>
    <dgm:cxn modelId="{853B1BB0-3D64-4656-BCF6-360FAE694240}" type="presOf" srcId="{647BFA5B-F7D8-4C05-9BA8-13920309D771}" destId="{1F807767-40A8-413F-889B-B5039E41FB50}" srcOrd="0" destOrd="0" presId="urn:microsoft.com/office/officeart/2018/2/layout/IconLabelList"/>
    <dgm:cxn modelId="{0FC86AA2-0CF8-4CBE-B00F-D2424F4AD4D9}" srcId="{25E74C5B-2672-4ECF-B860-8DE1329C16C1}" destId="{4EDAC842-54C1-4E7F-9C98-8C5BC48DF79C}" srcOrd="0" destOrd="0" parTransId="{8A9768EE-D4B5-4877-8945-04D7A6F873D0}" sibTransId="{0961DAFC-C41B-4379-B2B8-0BD3DC46A803}"/>
    <dgm:cxn modelId="{2F078A9B-7D08-4978-9926-8281461330C6}" type="presOf" srcId="{1C327870-1BEC-49D2-891F-A2C61E4221D7}" destId="{0D69C5E4-0A3C-4832-A770-A8184C370919}" srcOrd="0" destOrd="0" presId="urn:microsoft.com/office/officeart/2018/2/layout/IconLabelList"/>
    <dgm:cxn modelId="{332F43A7-0328-4B3A-A1FC-F6DB5F19DD4A}" type="presOf" srcId="{DE61E1BE-3107-4AF5-85D6-2010DA115631}" destId="{7AE32A8A-B008-459B-9A12-792F91A5CCB5}" srcOrd="0" destOrd="0" presId="urn:microsoft.com/office/officeart/2018/2/layout/IconLabelList"/>
    <dgm:cxn modelId="{A9475288-A395-413E-A010-A5386C75136E}" type="presParOf" srcId="{304C74C4-7F63-466D-81AB-68CF38E391E9}" destId="{81784343-788E-41CB-B4EC-4AC10468D5D3}" srcOrd="0" destOrd="0" presId="urn:microsoft.com/office/officeart/2018/2/layout/IconLabelList"/>
    <dgm:cxn modelId="{878565F1-597C-4BFA-BC6C-B1A2E1E5F65F}" type="presParOf" srcId="{81784343-788E-41CB-B4EC-4AC10468D5D3}" destId="{9482CFC1-1339-487B-B9B2-7316F7A06163}" srcOrd="0" destOrd="0" presId="urn:microsoft.com/office/officeart/2018/2/layout/IconLabelList"/>
    <dgm:cxn modelId="{64D2DE3B-2A8F-4F21-B542-1AFF56E8E825}" type="presParOf" srcId="{81784343-788E-41CB-B4EC-4AC10468D5D3}" destId="{4F0565A6-5A56-447C-A7D6-AAD9CA675252}" srcOrd="1" destOrd="0" presId="urn:microsoft.com/office/officeart/2018/2/layout/IconLabelList"/>
    <dgm:cxn modelId="{8558C078-3FF1-439E-9400-4FA0B81537E9}" type="presParOf" srcId="{81784343-788E-41CB-B4EC-4AC10468D5D3}" destId="{14189B67-782B-454A-AB4F-539B0F1DF49E}" srcOrd="2" destOrd="0" presId="urn:microsoft.com/office/officeart/2018/2/layout/IconLabelList"/>
    <dgm:cxn modelId="{D083823A-857E-43D5-942A-58A576884745}" type="presParOf" srcId="{304C74C4-7F63-466D-81AB-68CF38E391E9}" destId="{64BEFC8C-05C6-4D1F-AB35-DBAD2164D84A}" srcOrd="1" destOrd="0" presId="urn:microsoft.com/office/officeart/2018/2/layout/IconLabelList"/>
    <dgm:cxn modelId="{28077434-0B8F-4026-B1AF-51DC975E5B7F}" type="presParOf" srcId="{304C74C4-7F63-466D-81AB-68CF38E391E9}" destId="{AA1827F2-ECFD-4054-82FC-2F910E199964}" srcOrd="2" destOrd="0" presId="urn:microsoft.com/office/officeart/2018/2/layout/IconLabelList"/>
    <dgm:cxn modelId="{49EAEB87-D68A-4E51-A9EC-99B9F37F4232}" type="presParOf" srcId="{AA1827F2-ECFD-4054-82FC-2F910E199964}" destId="{EECE7CBE-338D-46DA-BE3D-3B73DCF84996}" srcOrd="0" destOrd="0" presId="urn:microsoft.com/office/officeart/2018/2/layout/IconLabelList"/>
    <dgm:cxn modelId="{0757E76F-E99A-4BE0-97B0-557631DDE4C2}" type="presParOf" srcId="{AA1827F2-ECFD-4054-82FC-2F910E199964}" destId="{64DB3D1D-F746-4132-9E04-1B6391001C1F}" srcOrd="1" destOrd="0" presId="urn:microsoft.com/office/officeart/2018/2/layout/IconLabelList"/>
    <dgm:cxn modelId="{51A09CF8-BD04-4C12-9ACA-6BF726E21539}" type="presParOf" srcId="{AA1827F2-ECFD-4054-82FC-2F910E199964}" destId="{A549B15F-4E9A-4B58-8F61-8AE7255B9D15}" srcOrd="2" destOrd="0" presId="urn:microsoft.com/office/officeart/2018/2/layout/IconLabelList"/>
    <dgm:cxn modelId="{AB4D2A95-68D4-4617-8635-A782194ACB87}" type="presParOf" srcId="{304C74C4-7F63-466D-81AB-68CF38E391E9}" destId="{54667BFA-16DA-425D-B05B-BF97227F7192}" srcOrd="3" destOrd="0" presId="urn:microsoft.com/office/officeart/2018/2/layout/IconLabelList"/>
    <dgm:cxn modelId="{69D54F23-906E-4D9D-9CD1-E397BAECA6B3}" type="presParOf" srcId="{304C74C4-7F63-466D-81AB-68CF38E391E9}" destId="{3E7E61F2-8323-4FDB-A815-2BEC8BD36734}" srcOrd="4" destOrd="0" presId="urn:microsoft.com/office/officeart/2018/2/layout/IconLabelList"/>
    <dgm:cxn modelId="{10F933B5-C647-4461-A64D-4C8B32F7C024}" type="presParOf" srcId="{3E7E61F2-8323-4FDB-A815-2BEC8BD36734}" destId="{ECF03F46-F5D7-4C1B-98D3-4D76E9F06C06}" srcOrd="0" destOrd="0" presId="urn:microsoft.com/office/officeart/2018/2/layout/IconLabelList"/>
    <dgm:cxn modelId="{99FCB9F3-8453-4208-9506-0C748AE90B88}" type="presParOf" srcId="{3E7E61F2-8323-4FDB-A815-2BEC8BD36734}" destId="{68158ABF-62DE-4D88-8C7D-70DA3644447F}" srcOrd="1" destOrd="0" presId="urn:microsoft.com/office/officeart/2018/2/layout/IconLabelList"/>
    <dgm:cxn modelId="{34A88993-D20F-4C50-9F60-091FBABF358A}" type="presParOf" srcId="{3E7E61F2-8323-4FDB-A815-2BEC8BD36734}" destId="{1F807767-40A8-413F-889B-B5039E41FB50}" srcOrd="2" destOrd="0" presId="urn:microsoft.com/office/officeart/2018/2/layout/IconLabelList"/>
    <dgm:cxn modelId="{B2ACADD4-F159-4C46-BF77-C0DBAAD9439F}" type="presParOf" srcId="{304C74C4-7F63-466D-81AB-68CF38E391E9}" destId="{4215AEA0-04B1-492E-80A8-5331BF7730C5}" srcOrd="5" destOrd="0" presId="urn:microsoft.com/office/officeart/2018/2/layout/IconLabelList"/>
    <dgm:cxn modelId="{D6CE1758-2616-4836-A4DB-9E20A9913367}" type="presParOf" srcId="{304C74C4-7F63-466D-81AB-68CF38E391E9}" destId="{E6036417-89BD-4157-8120-4970E2B39F6B}" srcOrd="6" destOrd="0" presId="urn:microsoft.com/office/officeart/2018/2/layout/IconLabelList"/>
    <dgm:cxn modelId="{ECA1F9DD-0A95-47E8-A42F-927DC52E192D}" type="presParOf" srcId="{E6036417-89BD-4157-8120-4970E2B39F6B}" destId="{1FD52781-51D7-4270-93BE-0B5A1646882B}" srcOrd="0" destOrd="0" presId="urn:microsoft.com/office/officeart/2018/2/layout/IconLabelList"/>
    <dgm:cxn modelId="{FF6F9E40-FEF4-456D-A583-7811E030E15D}" type="presParOf" srcId="{E6036417-89BD-4157-8120-4970E2B39F6B}" destId="{681BEFDD-CB5A-48BE-B8BF-B7CCFC879DC4}" srcOrd="1" destOrd="0" presId="urn:microsoft.com/office/officeart/2018/2/layout/IconLabelList"/>
    <dgm:cxn modelId="{32BFED5F-69EF-4025-90CB-04CEBD83B42E}" type="presParOf" srcId="{E6036417-89BD-4157-8120-4970E2B39F6B}" destId="{2F3064E7-8078-4B0E-8356-51AD90E234CA}" srcOrd="2" destOrd="0" presId="urn:microsoft.com/office/officeart/2018/2/layout/IconLabelList"/>
    <dgm:cxn modelId="{C171C3C0-6EF4-4D93-88F5-4703D654B54D}" type="presParOf" srcId="{304C74C4-7F63-466D-81AB-68CF38E391E9}" destId="{DE7DAB89-BE69-47BB-9C76-449CFF2DFA71}" srcOrd="7" destOrd="0" presId="urn:microsoft.com/office/officeart/2018/2/layout/IconLabelList"/>
    <dgm:cxn modelId="{2540A44E-C264-4A8A-B92E-419A54911156}" type="presParOf" srcId="{304C74C4-7F63-466D-81AB-68CF38E391E9}" destId="{4310CBA7-615E-4F01-BBFB-71242C61567F}" srcOrd="8" destOrd="0" presId="urn:microsoft.com/office/officeart/2018/2/layout/IconLabelList"/>
    <dgm:cxn modelId="{43535C1E-183E-4E9C-8285-CC07DC7A693B}" type="presParOf" srcId="{4310CBA7-615E-4F01-BBFB-71242C61567F}" destId="{6B6D8941-B195-4E45-908B-7DB08470161E}" srcOrd="0" destOrd="0" presId="urn:microsoft.com/office/officeart/2018/2/layout/IconLabelList"/>
    <dgm:cxn modelId="{74690800-E160-421C-9D12-AFB61E143EF2}" type="presParOf" srcId="{4310CBA7-615E-4F01-BBFB-71242C61567F}" destId="{D5EDA747-343B-4B8B-B552-CBD8E26CDA4E}" srcOrd="1" destOrd="0" presId="urn:microsoft.com/office/officeart/2018/2/layout/IconLabelList"/>
    <dgm:cxn modelId="{66AF7E32-7AA4-46A5-8AAB-FBCDEFC79A6A}" type="presParOf" srcId="{4310CBA7-615E-4F01-BBFB-71242C61567F}" destId="{7AE32A8A-B008-459B-9A12-792F91A5CCB5}" srcOrd="2" destOrd="0" presId="urn:microsoft.com/office/officeart/2018/2/layout/IconLabelList"/>
    <dgm:cxn modelId="{668250D1-F593-4C47-8081-0B832C685C0C}" type="presParOf" srcId="{304C74C4-7F63-466D-81AB-68CF38E391E9}" destId="{21BBB4E9-707A-4BE6-8349-82916E11F5E5}" srcOrd="9" destOrd="0" presId="urn:microsoft.com/office/officeart/2018/2/layout/IconLabelList"/>
    <dgm:cxn modelId="{C512B5C5-3BC1-4AC9-A341-33E94310EFBA}" type="presParOf" srcId="{304C74C4-7F63-466D-81AB-68CF38E391E9}" destId="{818EC85B-C1F4-4464-A7A2-C48F244E4E81}" srcOrd="10" destOrd="0" presId="urn:microsoft.com/office/officeart/2018/2/layout/IconLabelList"/>
    <dgm:cxn modelId="{1561AEA2-1B05-403B-8C5A-2D26F825EAE9}" type="presParOf" srcId="{818EC85B-C1F4-4464-A7A2-C48F244E4E81}" destId="{BDB7D374-8EE5-4BB4-BBBE-05C250E11468}" srcOrd="0" destOrd="0" presId="urn:microsoft.com/office/officeart/2018/2/layout/IconLabelList"/>
    <dgm:cxn modelId="{745DCE59-76C8-4039-8EDB-3C4F46B5DB9F}" type="presParOf" srcId="{818EC85B-C1F4-4464-A7A2-C48F244E4E81}" destId="{B270B150-7C2B-4A2C-9823-8769CF2F7DD0}" srcOrd="1" destOrd="0" presId="urn:microsoft.com/office/officeart/2018/2/layout/IconLabelList"/>
    <dgm:cxn modelId="{19BF2D90-4401-4B40-8148-746819CB3A96}" type="presParOf" srcId="{818EC85B-C1F4-4464-A7A2-C48F244E4E81}" destId="{0D69C5E4-0A3C-4832-A770-A8184C370919}" srcOrd="2" destOrd="0" presId="urn:microsoft.com/office/officeart/2018/2/layout/IconLabelList"/>
  </dgm:cxnLst>
  <dgm:bg>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a:blip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892B76-4EBF-42EE-842A-E20C422CFCD2}" type="doc">
      <dgm:prSet loTypeId="urn:microsoft.com/office/officeart/2008/layout/LinedList" loCatId="list" qsTypeId="urn:microsoft.com/office/officeart/2005/8/quickstyle/simple1" qsCatId="simple" csTypeId="urn:microsoft.com/office/officeart/2018/5/colors/Iconchunking_neutralbg_colorful1" csCatId="colorful" phldr="1"/>
      <dgm:spPr/>
      <dgm:t>
        <a:bodyPr/>
        <a:lstStyle/>
        <a:p>
          <a:endParaRPr lang="en-US"/>
        </a:p>
      </dgm:t>
    </dgm:pt>
    <dgm:pt modelId="{239BF204-3037-4A5E-B416-AC907A0994CD}">
      <dgm:prSet/>
      <dgm:spPr/>
      <dgm:t>
        <a:bodyPr/>
        <a:lstStyle/>
        <a:p>
          <a:pPr algn="just"/>
          <a:r>
            <a:rPr lang="en-US" b="0" i="0" dirty="0"/>
            <a:t>Low False Negative Rate (FNR) is crucial in anomaly detection, particularly in sensitive areas like fraud detection, to avoid overlooking anomalies and wasting resources on unnecessary investigations.</a:t>
          </a:r>
        </a:p>
        <a:p>
          <a:pPr algn="l"/>
          <a:endParaRPr lang="en-US" dirty="0"/>
        </a:p>
      </dgm:t>
    </dgm:pt>
    <dgm:pt modelId="{7C1E3E0A-26DF-4A3C-9081-43749A2A2BE3}" type="parTrans" cxnId="{849B014A-4E4D-45F1-BB90-B223BF6226BF}">
      <dgm:prSet/>
      <dgm:spPr/>
      <dgm:t>
        <a:bodyPr/>
        <a:lstStyle/>
        <a:p>
          <a:endParaRPr lang="en-US"/>
        </a:p>
      </dgm:t>
    </dgm:pt>
    <dgm:pt modelId="{9CB43FA3-1BB0-4446-8995-E88CAB5EF820}" type="sibTrans" cxnId="{849B014A-4E4D-45F1-BB90-B223BF6226BF}">
      <dgm:prSet/>
      <dgm:spPr/>
      <dgm:t>
        <a:bodyPr/>
        <a:lstStyle/>
        <a:p>
          <a:endParaRPr lang="en-US"/>
        </a:p>
      </dgm:t>
    </dgm:pt>
    <dgm:pt modelId="{5F7FBEF5-078E-46B7-AE94-106347F91206}">
      <dgm:prSet/>
      <dgm:spPr/>
      <dgm:t>
        <a:bodyPr/>
        <a:lstStyle/>
        <a:p>
          <a:pPr algn="just"/>
          <a:r>
            <a:rPr lang="en-US" b="0" i="0" dirty="0"/>
            <a:t>Hierarchical Temporal Memory (HTM) stands out for real-time anomaly detection without pre-training, making it ideal for dynamic data streams and resilient to noise.</a:t>
          </a:r>
          <a:endParaRPr lang="en-US" dirty="0"/>
        </a:p>
      </dgm:t>
    </dgm:pt>
    <dgm:pt modelId="{736F4025-81BA-4665-AEC6-14FB5926007C}" type="parTrans" cxnId="{75E66155-B6D4-4728-BC84-80C2140DDC86}">
      <dgm:prSet/>
      <dgm:spPr/>
      <dgm:t>
        <a:bodyPr/>
        <a:lstStyle/>
        <a:p>
          <a:endParaRPr lang="en-US"/>
        </a:p>
      </dgm:t>
    </dgm:pt>
    <dgm:pt modelId="{2432F4CC-5C69-4CB4-B992-0BB222569E03}" type="sibTrans" cxnId="{75E66155-B6D4-4728-BC84-80C2140DDC86}">
      <dgm:prSet/>
      <dgm:spPr/>
      <dgm:t>
        <a:bodyPr/>
        <a:lstStyle/>
        <a:p>
          <a:endParaRPr lang="en-US"/>
        </a:p>
      </dgm:t>
    </dgm:pt>
    <dgm:pt modelId="{F6937E21-265F-4588-A698-11F7D370BED1}">
      <dgm:prSet/>
      <dgm:spPr/>
      <dgm:t>
        <a:bodyPr/>
        <a:lstStyle/>
        <a:p>
          <a:pPr algn="just"/>
          <a:r>
            <a:rPr lang="en-US" b="0" i="0" dirty="0"/>
            <a:t>Enhanced computational resources and time allocation, potentially through cloud platforms, can optimize HTM model performance by allowing for more data and hyperparameter tuning in anomaly detection applications.</a:t>
          </a:r>
          <a:endParaRPr lang="en-US" dirty="0"/>
        </a:p>
      </dgm:t>
    </dgm:pt>
    <dgm:pt modelId="{E6017DE8-E492-4055-82B1-8F9D20BC0720}" type="parTrans" cxnId="{B03F2F0D-97CB-434E-BB5C-EC7DB358BC44}">
      <dgm:prSet/>
      <dgm:spPr/>
      <dgm:t>
        <a:bodyPr/>
        <a:lstStyle/>
        <a:p>
          <a:endParaRPr lang="en-US"/>
        </a:p>
      </dgm:t>
    </dgm:pt>
    <dgm:pt modelId="{37B98DD1-B561-414B-88A1-069016C226CC}" type="sibTrans" cxnId="{B03F2F0D-97CB-434E-BB5C-EC7DB358BC44}">
      <dgm:prSet/>
      <dgm:spPr/>
      <dgm:t>
        <a:bodyPr/>
        <a:lstStyle/>
        <a:p>
          <a:endParaRPr lang="en-US"/>
        </a:p>
      </dgm:t>
    </dgm:pt>
    <dgm:pt modelId="{C48DFD87-6530-40A0-A5EB-ECC42D9A8F49}">
      <dgm:prSet/>
      <dgm:spPr/>
      <dgm:t>
        <a:bodyPr/>
        <a:lstStyle/>
        <a:p>
          <a:pPr algn="just"/>
          <a:r>
            <a:rPr lang="en-US" dirty="0"/>
            <a:t>Overall, in conclusion, we can say that the HTM accuracy can be improved by using more data. We were not able to train large amounts of data due to limitations of our local machine. However, we can try using a greater number of numerical sequences in cloud.</a:t>
          </a:r>
        </a:p>
      </dgm:t>
    </dgm:pt>
    <dgm:pt modelId="{4A64C447-6C9C-45FF-8FC6-898247F796E1}" type="parTrans" cxnId="{BD59110D-4F66-41F5-95B4-1F305C54569E}">
      <dgm:prSet/>
      <dgm:spPr/>
      <dgm:t>
        <a:bodyPr/>
        <a:lstStyle/>
        <a:p>
          <a:endParaRPr lang="de-DE"/>
        </a:p>
      </dgm:t>
    </dgm:pt>
    <dgm:pt modelId="{19660F5B-5DC6-4355-8EDB-E7EFF837D9A2}" type="sibTrans" cxnId="{BD59110D-4F66-41F5-95B4-1F305C54569E}">
      <dgm:prSet/>
      <dgm:spPr/>
      <dgm:t>
        <a:bodyPr/>
        <a:lstStyle/>
        <a:p>
          <a:endParaRPr lang="de-DE"/>
        </a:p>
      </dgm:t>
    </dgm:pt>
    <dgm:pt modelId="{ED944241-FC1D-433D-8D9E-F9768A661984}" type="pres">
      <dgm:prSet presAssocID="{47892B76-4EBF-42EE-842A-E20C422CFCD2}" presName="vert0" presStyleCnt="0">
        <dgm:presLayoutVars>
          <dgm:dir/>
          <dgm:animOne val="branch"/>
          <dgm:animLvl val="lvl"/>
        </dgm:presLayoutVars>
      </dgm:prSet>
      <dgm:spPr/>
      <dgm:t>
        <a:bodyPr/>
        <a:lstStyle/>
        <a:p>
          <a:endParaRPr lang="en-US"/>
        </a:p>
      </dgm:t>
    </dgm:pt>
    <dgm:pt modelId="{AC9C9FD7-72E1-450D-AFBC-70B95E0A4A03}" type="pres">
      <dgm:prSet presAssocID="{C48DFD87-6530-40A0-A5EB-ECC42D9A8F49}" presName="thickLine" presStyleLbl="alignNode1" presStyleIdx="0" presStyleCnt="4"/>
      <dgm:spPr/>
    </dgm:pt>
    <dgm:pt modelId="{1DF01AF8-A2F2-4B34-BDF4-BBF2A359D23E}" type="pres">
      <dgm:prSet presAssocID="{C48DFD87-6530-40A0-A5EB-ECC42D9A8F49}" presName="horz1" presStyleCnt="0"/>
      <dgm:spPr/>
    </dgm:pt>
    <dgm:pt modelId="{BF639F22-1ADB-4D7C-8145-31641E8DEBD0}" type="pres">
      <dgm:prSet presAssocID="{C48DFD87-6530-40A0-A5EB-ECC42D9A8F49}" presName="tx1" presStyleLbl="revTx" presStyleIdx="0" presStyleCnt="4"/>
      <dgm:spPr/>
      <dgm:t>
        <a:bodyPr/>
        <a:lstStyle/>
        <a:p>
          <a:endParaRPr lang="en-US"/>
        </a:p>
      </dgm:t>
    </dgm:pt>
    <dgm:pt modelId="{00E3B565-F1AE-481C-99D3-A10E2CBB6916}" type="pres">
      <dgm:prSet presAssocID="{C48DFD87-6530-40A0-A5EB-ECC42D9A8F49}" presName="vert1" presStyleCnt="0"/>
      <dgm:spPr/>
    </dgm:pt>
    <dgm:pt modelId="{83772588-0F12-429A-9A09-8A7FC6C5A595}" type="pres">
      <dgm:prSet presAssocID="{239BF204-3037-4A5E-B416-AC907A0994CD}" presName="thickLine" presStyleLbl="alignNode1" presStyleIdx="1" presStyleCnt="4"/>
      <dgm:spPr/>
    </dgm:pt>
    <dgm:pt modelId="{94BF492E-23E2-401E-BA10-BEE4F3A67285}" type="pres">
      <dgm:prSet presAssocID="{239BF204-3037-4A5E-B416-AC907A0994CD}" presName="horz1" presStyleCnt="0"/>
      <dgm:spPr/>
    </dgm:pt>
    <dgm:pt modelId="{EFFF1A40-2806-4BC8-AFAE-AD3E674D8EC7}" type="pres">
      <dgm:prSet presAssocID="{239BF204-3037-4A5E-B416-AC907A0994CD}" presName="tx1" presStyleLbl="revTx" presStyleIdx="1" presStyleCnt="4"/>
      <dgm:spPr/>
      <dgm:t>
        <a:bodyPr/>
        <a:lstStyle/>
        <a:p>
          <a:endParaRPr lang="en-US"/>
        </a:p>
      </dgm:t>
    </dgm:pt>
    <dgm:pt modelId="{189E714B-FC97-4EA9-82B1-0C29AC85C604}" type="pres">
      <dgm:prSet presAssocID="{239BF204-3037-4A5E-B416-AC907A0994CD}" presName="vert1" presStyleCnt="0"/>
      <dgm:spPr/>
    </dgm:pt>
    <dgm:pt modelId="{C759C3FD-1C01-4B1E-875E-CA40E46A91A4}" type="pres">
      <dgm:prSet presAssocID="{5F7FBEF5-078E-46B7-AE94-106347F91206}" presName="thickLine" presStyleLbl="alignNode1" presStyleIdx="2" presStyleCnt="4"/>
      <dgm:spPr/>
    </dgm:pt>
    <dgm:pt modelId="{CBE771AA-A4B9-472A-8DDA-B14929E537FB}" type="pres">
      <dgm:prSet presAssocID="{5F7FBEF5-078E-46B7-AE94-106347F91206}" presName="horz1" presStyleCnt="0"/>
      <dgm:spPr/>
    </dgm:pt>
    <dgm:pt modelId="{0D6728CC-35DE-4DB9-BF91-26661D0FC45F}" type="pres">
      <dgm:prSet presAssocID="{5F7FBEF5-078E-46B7-AE94-106347F91206}" presName="tx1" presStyleLbl="revTx" presStyleIdx="2" presStyleCnt="4"/>
      <dgm:spPr/>
      <dgm:t>
        <a:bodyPr/>
        <a:lstStyle/>
        <a:p>
          <a:endParaRPr lang="en-US"/>
        </a:p>
      </dgm:t>
    </dgm:pt>
    <dgm:pt modelId="{17881B96-D541-42EF-BBB6-5FF4913E5644}" type="pres">
      <dgm:prSet presAssocID="{5F7FBEF5-078E-46B7-AE94-106347F91206}" presName="vert1" presStyleCnt="0"/>
      <dgm:spPr/>
    </dgm:pt>
    <dgm:pt modelId="{55904D1E-C4C0-410C-89B3-7169833C09F5}" type="pres">
      <dgm:prSet presAssocID="{F6937E21-265F-4588-A698-11F7D370BED1}" presName="thickLine" presStyleLbl="alignNode1" presStyleIdx="3" presStyleCnt="4"/>
      <dgm:spPr/>
    </dgm:pt>
    <dgm:pt modelId="{FF17C620-2470-4BB9-85BA-FC9E9E5762C7}" type="pres">
      <dgm:prSet presAssocID="{F6937E21-265F-4588-A698-11F7D370BED1}" presName="horz1" presStyleCnt="0"/>
      <dgm:spPr/>
    </dgm:pt>
    <dgm:pt modelId="{363885E6-19AA-4CEF-A807-E53B6948645D}" type="pres">
      <dgm:prSet presAssocID="{F6937E21-265F-4588-A698-11F7D370BED1}" presName="tx1" presStyleLbl="revTx" presStyleIdx="3" presStyleCnt="4"/>
      <dgm:spPr/>
      <dgm:t>
        <a:bodyPr/>
        <a:lstStyle/>
        <a:p>
          <a:endParaRPr lang="en-US"/>
        </a:p>
      </dgm:t>
    </dgm:pt>
    <dgm:pt modelId="{3BE72B72-0103-44E2-BF72-FCAF4E6FBE24}" type="pres">
      <dgm:prSet presAssocID="{F6937E21-265F-4588-A698-11F7D370BED1}" presName="vert1" presStyleCnt="0"/>
      <dgm:spPr/>
    </dgm:pt>
  </dgm:ptLst>
  <dgm:cxnLst>
    <dgm:cxn modelId="{75E66155-B6D4-4728-BC84-80C2140DDC86}" srcId="{47892B76-4EBF-42EE-842A-E20C422CFCD2}" destId="{5F7FBEF5-078E-46B7-AE94-106347F91206}" srcOrd="2" destOrd="0" parTransId="{736F4025-81BA-4665-AEC6-14FB5926007C}" sibTransId="{2432F4CC-5C69-4CB4-B992-0BB222569E03}"/>
    <dgm:cxn modelId="{6308AD23-7C00-40C6-8A92-531FFF42BD5F}" type="presOf" srcId="{239BF204-3037-4A5E-B416-AC907A0994CD}" destId="{EFFF1A40-2806-4BC8-AFAE-AD3E674D8EC7}" srcOrd="0" destOrd="0" presId="urn:microsoft.com/office/officeart/2008/layout/LinedList"/>
    <dgm:cxn modelId="{B03F2F0D-97CB-434E-BB5C-EC7DB358BC44}" srcId="{47892B76-4EBF-42EE-842A-E20C422CFCD2}" destId="{F6937E21-265F-4588-A698-11F7D370BED1}" srcOrd="3" destOrd="0" parTransId="{E6017DE8-E492-4055-82B1-8F9D20BC0720}" sibTransId="{37B98DD1-B561-414B-88A1-069016C226CC}"/>
    <dgm:cxn modelId="{94DC9E50-35A8-4572-99F5-7247BA193151}" type="presOf" srcId="{5F7FBEF5-078E-46B7-AE94-106347F91206}" destId="{0D6728CC-35DE-4DB9-BF91-26661D0FC45F}" srcOrd="0" destOrd="0" presId="urn:microsoft.com/office/officeart/2008/layout/LinedList"/>
    <dgm:cxn modelId="{849B014A-4E4D-45F1-BB90-B223BF6226BF}" srcId="{47892B76-4EBF-42EE-842A-E20C422CFCD2}" destId="{239BF204-3037-4A5E-B416-AC907A0994CD}" srcOrd="1" destOrd="0" parTransId="{7C1E3E0A-26DF-4A3C-9081-43749A2A2BE3}" sibTransId="{9CB43FA3-1BB0-4446-8995-E88CAB5EF820}"/>
    <dgm:cxn modelId="{45E3F015-E25E-4EE8-A0FF-CA3B62DD958C}" type="presOf" srcId="{C48DFD87-6530-40A0-A5EB-ECC42D9A8F49}" destId="{BF639F22-1ADB-4D7C-8145-31641E8DEBD0}" srcOrd="0" destOrd="0" presId="urn:microsoft.com/office/officeart/2008/layout/LinedList"/>
    <dgm:cxn modelId="{A7E2EC1C-BFB6-40F3-A513-853421CA5205}" type="presOf" srcId="{47892B76-4EBF-42EE-842A-E20C422CFCD2}" destId="{ED944241-FC1D-433D-8D9E-F9768A661984}" srcOrd="0" destOrd="0" presId="urn:microsoft.com/office/officeart/2008/layout/LinedList"/>
    <dgm:cxn modelId="{BD59110D-4F66-41F5-95B4-1F305C54569E}" srcId="{47892B76-4EBF-42EE-842A-E20C422CFCD2}" destId="{C48DFD87-6530-40A0-A5EB-ECC42D9A8F49}" srcOrd="0" destOrd="0" parTransId="{4A64C447-6C9C-45FF-8FC6-898247F796E1}" sibTransId="{19660F5B-5DC6-4355-8EDB-E7EFF837D9A2}"/>
    <dgm:cxn modelId="{39174364-F33F-488F-8640-3F67C993DA3F}" type="presOf" srcId="{F6937E21-265F-4588-A698-11F7D370BED1}" destId="{363885E6-19AA-4CEF-A807-E53B6948645D}" srcOrd="0" destOrd="0" presId="urn:microsoft.com/office/officeart/2008/layout/LinedList"/>
    <dgm:cxn modelId="{6BF3EB56-DA73-454A-A404-0F394A900EF6}" type="presParOf" srcId="{ED944241-FC1D-433D-8D9E-F9768A661984}" destId="{AC9C9FD7-72E1-450D-AFBC-70B95E0A4A03}" srcOrd="0" destOrd="0" presId="urn:microsoft.com/office/officeart/2008/layout/LinedList"/>
    <dgm:cxn modelId="{1EA7CA59-D6B1-4C1C-B6EE-8FA0B519823E}" type="presParOf" srcId="{ED944241-FC1D-433D-8D9E-F9768A661984}" destId="{1DF01AF8-A2F2-4B34-BDF4-BBF2A359D23E}" srcOrd="1" destOrd="0" presId="urn:microsoft.com/office/officeart/2008/layout/LinedList"/>
    <dgm:cxn modelId="{C5858AF4-A5D2-4716-9BFB-3A7A11F6E69A}" type="presParOf" srcId="{1DF01AF8-A2F2-4B34-BDF4-BBF2A359D23E}" destId="{BF639F22-1ADB-4D7C-8145-31641E8DEBD0}" srcOrd="0" destOrd="0" presId="urn:microsoft.com/office/officeart/2008/layout/LinedList"/>
    <dgm:cxn modelId="{E18D4946-C9B9-4505-AE28-38D07B6A80E9}" type="presParOf" srcId="{1DF01AF8-A2F2-4B34-BDF4-BBF2A359D23E}" destId="{00E3B565-F1AE-481C-99D3-A10E2CBB6916}" srcOrd="1" destOrd="0" presId="urn:microsoft.com/office/officeart/2008/layout/LinedList"/>
    <dgm:cxn modelId="{91A675F7-C830-467E-BE95-CB053C2C75C2}" type="presParOf" srcId="{ED944241-FC1D-433D-8D9E-F9768A661984}" destId="{83772588-0F12-429A-9A09-8A7FC6C5A595}" srcOrd="2" destOrd="0" presId="urn:microsoft.com/office/officeart/2008/layout/LinedList"/>
    <dgm:cxn modelId="{F0EEC34B-B1C7-48D8-84F9-D055952F18F0}" type="presParOf" srcId="{ED944241-FC1D-433D-8D9E-F9768A661984}" destId="{94BF492E-23E2-401E-BA10-BEE4F3A67285}" srcOrd="3" destOrd="0" presId="urn:microsoft.com/office/officeart/2008/layout/LinedList"/>
    <dgm:cxn modelId="{7651BE25-E309-4C22-AF06-225ABB075FB0}" type="presParOf" srcId="{94BF492E-23E2-401E-BA10-BEE4F3A67285}" destId="{EFFF1A40-2806-4BC8-AFAE-AD3E674D8EC7}" srcOrd="0" destOrd="0" presId="urn:microsoft.com/office/officeart/2008/layout/LinedList"/>
    <dgm:cxn modelId="{5302E150-B41B-458F-9B39-FD650780ABB3}" type="presParOf" srcId="{94BF492E-23E2-401E-BA10-BEE4F3A67285}" destId="{189E714B-FC97-4EA9-82B1-0C29AC85C604}" srcOrd="1" destOrd="0" presId="urn:microsoft.com/office/officeart/2008/layout/LinedList"/>
    <dgm:cxn modelId="{813B697C-3668-4440-8E88-391F739D226D}" type="presParOf" srcId="{ED944241-FC1D-433D-8D9E-F9768A661984}" destId="{C759C3FD-1C01-4B1E-875E-CA40E46A91A4}" srcOrd="4" destOrd="0" presId="urn:microsoft.com/office/officeart/2008/layout/LinedList"/>
    <dgm:cxn modelId="{7747892A-A74A-4394-854E-F880C09F3950}" type="presParOf" srcId="{ED944241-FC1D-433D-8D9E-F9768A661984}" destId="{CBE771AA-A4B9-472A-8DDA-B14929E537FB}" srcOrd="5" destOrd="0" presId="urn:microsoft.com/office/officeart/2008/layout/LinedList"/>
    <dgm:cxn modelId="{16DF0ED7-BD09-4908-AE78-AC48BD1318E6}" type="presParOf" srcId="{CBE771AA-A4B9-472A-8DDA-B14929E537FB}" destId="{0D6728CC-35DE-4DB9-BF91-26661D0FC45F}" srcOrd="0" destOrd="0" presId="urn:microsoft.com/office/officeart/2008/layout/LinedList"/>
    <dgm:cxn modelId="{EEFC334E-FF3A-4D05-9199-4CAB0D9A3A5D}" type="presParOf" srcId="{CBE771AA-A4B9-472A-8DDA-B14929E537FB}" destId="{17881B96-D541-42EF-BBB6-5FF4913E5644}" srcOrd="1" destOrd="0" presId="urn:microsoft.com/office/officeart/2008/layout/LinedList"/>
    <dgm:cxn modelId="{9738BF04-5A3E-4318-91BF-24DB50579DA5}" type="presParOf" srcId="{ED944241-FC1D-433D-8D9E-F9768A661984}" destId="{55904D1E-C4C0-410C-89B3-7169833C09F5}" srcOrd="6" destOrd="0" presId="urn:microsoft.com/office/officeart/2008/layout/LinedList"/>
    <dgm:cxn modelId="{E609D822-CBA6-4C1F-B416-D7C1D0CB667E}" type="presParOf" srcId="{ED944241-FC1D-433D-8D9E-F9768A661984}" destId="{FF17C620-2470-4BB9-85BA-FC9E9E5762C7}" srcOrd="7" destOrd="0" presId="urn:microsoft.com/office/officeart/2008/layout/LinedList"/>
    <dgm:cxn modelId="{027D559F-539C-4B19-B240-6D84C6DEA910}" type="presParOf" srcId="{FF17C620-2470-4BB9-85BA-FC9E9E5762C7}" destId="{363885E6-19AA-4CEF-A807-E53B6948645D}" srcOrd="0" destOrd="0" presId="urn:microsoft.com/office/officeart/2008/layout/LinedList"/>
    <dgm:cxn modelId="{A8373C7D-8214-4966-A2C9-3FBBA3912600}" type="presParOf" srcId="{FF17C620-2470-4BB9-85BA-FC9E9E5762C7}" destId="{3BE72B72-0103-44E2-BF72-FCAF4E6FBE2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8148D4-9014-475C-AC97-8AF4C70FC226}" type="datetimeFigureOut">
              <a:rPr lang="de-DE" smtClean="0"/>
              <a:t>28.03.2025</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2BE77A-DD76-4E1D-8894-A9B470598ED7}" type="slidenum">
              <a:rPr lang="de-DE" smtClean="0"/>
              <a:t>‹#›</a:t>
            </a:fld>
            <a:endParaRPr lang="de-DE"/>
          </a:p>
        </p:txBody>
      </p:sp>
    </p:spTree>
    <p:extLst>
      <p:ext uri="{BB962C8B-B14F-4D97-AF65-F5344CB8AC3E}">
        <p14:creationId xmlns:p14="http://schemas.microsoft.com/office/powerpoint/2010/main" val="3275629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 xmlns:a16="http://schemas.microsoft.com/office/drawing/2014/main" id="{7FA0ACE7-29A8-47D3-A7D9-257B711D8023}"/>
              </a:ext>
            </a:extLst>
          </p:cNvPr>
          <p:cNvSpPr>
            <a:spLocks noGrp="1"/>
          </p:cNvSpPr>
          <p:nvPr>
            <p:ph type="dt" sz="half" idx="10"/>
          </p:nvPr>
        </p:nvSpPr>
        <p:spPr/>
        <p:txBody>
          <a:bodyPr/>
          <a:lstStyle/>
          <a:p>
            <a:fld id="{DE12E154-F8FB-4181-8C6E-946582017057}" type="datetime1">
              <a:rPr lang="en-US" smtClean="0"/>
              <a:t>3/28/2025</a:t>
            </a:fld>
            <a:endParaRPr lang="en-US" dirty="0"/>
          </a:p>
        </p:txBody>
      </p:sp>
      <p:sp>
        <p:nvSpPr>
          <p:cNvPr id="9" name="Footer Placeholder 8">
            <a:extLst>
              <a:ext uri="{FF2B5EF4-FFF2-40B4-BE49-F238E27FC236}">
                <a16:creationId xmlns="" xmlns:a16="http://schemas.microsoft.com/office/drawing/2014/main" id="{DEC604B9-52E9-4810-8359-47206518D038}"/>
              </a:ext>
            </a:extLst>
          </p:cNvPr>
          <p:cNvSpPr>
            <a:spLocks noGrp="1"/>
          </p:cNvSpPr>
          <p:nvPr>
            <p:ph type="ftr" sz="quarter" idx="11"/>
          </p:nvPr>
        </p:nvSpPr>
        <p:spPr/>
        <p:txBody>
          <a:bodyPr/>
          <a:lstStyle/>
          <a:p>
            <a:r>
              <a:rPr lang="en-US"/>
              <a:t>Unit Test Code Coverage</a:t>
            </a:r>
            <a:endParaRPr lang="en-US" dirty="0"/>
          </a:p>
        </p:txBody>
      </p:sp>
      <p:sp>
        <p:nvSpPr>
          <p:cNvPr id="10" name="Slide Number Placeholder 9">
            <a:extLst>
              <a:ext uri="{FF2B5EF4-FFF2-40B4-BE49-F238E27FC236}">
                <a16:creationId xmlns=""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7066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 xmlns:a16="http://schemas.microsoft.com/office/drawing/2014/main" id="{770E6237-3456-439F-802D-3BA93FC7E3E5}"/>
              </a:ext>
            </a:extLst>
          </p:cNvPr>
          <p:cNvSpPr>
            <a:spLocks noGrp="1"/>
          </p:cNvSpPr>
          <p:nvPr>
            <p:ph type="dt" sz="half" idx="10"/>
          </p:nvPr>
        </p:nvSpPr>
        <p:spPr/>
        <p:txBody>
          <a:bodyPr/>
          <a:lstStyle/>
          <a:p>
            <a:fld id="{09843FE9-4D06-4A41-BEF1-B24D90A9F9ED}" type="datetime1">
              <a:rPr lang="en-US" smtClean="0"/>
              <a:t>3/28/2025</a:t>
            </a:fld>
            <a:endParaRPr lang="en-US" dirty="0"/>
          </a:p>
        </p:txBody>
      </p:sp>
      <p:sp>
        <p:nvSpPr>
          <p:cNvPr id="9" name="Footer Placeholder 8">
            <a:extLst>
              <a:ext uri="{FF2B5EF4-FFF2-40B4-BE49-F238E27FC236}">
                <a16:creationId xmlns="" xmlns:a16="http://schemas.microsoft.com/office/drawing/2014/main" id="{1356D3B5-6063-4A89-B88F-9D3043916FF8}"/>
              </a:ext>
            </a:extLst>
          </p:cNvPr>
          <p:cNvSpPr>
            <a:spLocks noGrp="1"/>
          </p:cNvSpPr>
          <p:nvPr>
            <p:ph type="ftr" sz="quarter" idx="11"/>
          </p:nvPr>
        </p:nvSpPr>
        <p:spPr/>
        <p:txBody>
          <a:bodyPr/>
          <a:lstStyle/>
          <a:p>
            <a:r>
              <a:rPr lang="en-US"/>
              <a:t>Unit Test Code Coverage</a:t>
            </a:r>
            <a:endParaRPr lang="en-US" dirty="0"/>
          </a:p>
        </p:txBody>
      </p:sp>
      <p:sp>
        <p:nvSpPr>
          <p:cNvPr id="10" name="Slide Number Placeholder 9">
            <a:extLst>
              <a:ext uri="{FF2B5EF4-FFF2-40B4-BE49-F238E27FC236}">
                <a16:creationId xmlns=""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202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 xmlns:a16="http://schemas.microsoft.com/office/drawing/2014/main" id="{61582016-5696-4A93-887F-BBB3B9002FE5}"/>
              </a:ext>
            </a:extLst>
          </p:cNvPr>
          <p:cNvSpPr>
            <a:spLocks noGrp="1"/>
          </p:cNvSpPr>
          <p:nvPr>
            <p:ph type="dt" sz="half" idx="10"/>
          </p:nvPr>
        </p:nvSpPr>
        <p:spPr/>
        <p:txBody>
          <a:bodyPr/>
          <a:lstStyle/>
          <a:p>
            <a:fld id="{674DCBAD-E9EB-4B79-94E3-0DAEA08F2165}" type="datetime1">
              <a:rPr lang="en-US" smtClean="0"/>
              <a:t>3/28/2025</a:t>
            </a:fld>
            <a:endParaRPr lang="en-US" dirty="0"/>
          </a:p>
        </p:txBody>
      </p:sp>
      <p:sp>
        <p:nvSpPr>
          <p:cNvPr id="9" name="Footer Placeholder 8">
            <a:extLst>
              <a:ext uri="{FF2B5EF4-FFF2-40B4-BE49-F238E27FC236}">
                <a16:creationId xmlns="" xmlns:a16="http://schemas.microsoft.com/office/drawing/2014/main" id="{857CFCD5-1192-4E18-8A8F-29E153B44DA4}"/>
              </a:ext>
            </a:extLst>
          </p:cNvPr>
          <p:cNvSpPr>
            <a:spLocks noGrp="1"/>
          </p:cNvSpPr>
          <p:nvPr>
            <p:ph type="ftr" sz="quarter" idx="11"/>
          </p:nvPr>
        </p:nvSpPr>
        <p:spPr/>
        <p:txBody>
          <a:bodyPr/>
          <a:lstStyle/>
          <a:p>
            <a:r>
              <a:rPr lang="en-US"/>
              <a:t>Unit Test Code Coverage</a:t>
            </a:r>
            <a:endParaRPr lang="en-US" dirty="0"/>
          </a:p>
        </p:txBody>
      </p:sp>
      <p:sp>
        <p:nvSpPr>
          <p:cNvPr id="10" name="Slide Number Placeholder 9">
            <a:extLst>
              <a:ext uri="{FF2B5EF4-FFF2-40B4-BE49-F238E27FC236}">
                <a16:creationId xmlns=""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35485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6F6435-BC5A-4D63-8431-2354F4A14938}" type="datetime1">
              <a:rPr lang="en-US" smtClean="0"/>
              <a:t>3/28/2025</a:t>
            </a:fld>
            <a:endParaRPr lang="en-US" dirty="0"/>
          </a:p>
        </p:txBody>
      </p:sp>
      <p:sp>
        <p:nvSpPr>
          <p:cNvPr id="6" name="Footer Placeholder 5"/>
          <p:cNvSpPr>
            <a:spLocks noGrp="1"/>
          </p:cNvSpPr>
          <p:nvPr>
            <p:ph type="ftr" sz="quarter" idx="11"/>
          </p:nvPr>
        </p:nvSpPr>
        <p:spPr/>
        <p:txBody>
          <a:bodyPr/>
          <a:lstStyle/>
          <a:p>
            <a:r>
              <a:rPr lang="en-US"/>
              <a:t>Unit Test Code Coverage</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9827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02C01B-FDDF-4844-A5D4-9CE70E85D3C3}" type="datetime1">
              <a:rPr lang="en-US" smtClean="0"/>
              <a:t>3/28/2025</a:t>
            </a:fld>
            <a:endParaRPr lang="en-US" dirty="0"/>
          </a:p>
        </p:txBody>
      </p:sp>
      <p:sp>
        <p:nvSpPr>
          <p:cNvPr id="8" name="Footer Placeholder 7"/>
          <p:cNvSpPr>
            <a:spLocks noGrp="1"/>
          </p:cNvSpPr>
          <p:nvPr>
            <p:ph type="ftr" sz="quarter" idx="11"/>
          </p:nvPr>
        </p:nvSpPr>
        <p:spPr/>
        <p:txBody>
          <a:bodyPr/>
          <a:lstStyle/>
          <a:p>
            <a:r>
              <a:rPr lang="en-US"/>
              <a:t>Unit Test Code Coverage</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4183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687636-C395-40B2-BA12-D49A21CA7429}" type="datetime1">
              <a:rPr lang="en-US" smtClean="0"/>
              <a:t>3/28/2025</a:t>
            </a:fld>
            <a:endParaRPr lang="en-US" dirty="0"/>
          </a:p>
        </p:txBody>
      </p:sp>
      <p:sp>
        <p:nvSpPr>
          <p:cNvPr id="4" name="Footer Placeholder 3"/>
          <p:cNvSpPr>
            <a:spLocks noGrp="1"/>
          </p:cNvSpPr>
          <p:nvPr>
            <p:ph type="ftr" sz="quarter" idx="11"/>
          </p:nvPr>
        </p:nvSpPr>
        <p:spPr/>
        <p:txBody>
          <a:bodyPr/>
          <a:lstStyle/>
          <a:p>
            <a:r>
              <a:rPr lang="en-US"/>
              <a:t>Unit Test Code Coverage</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4320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337A2E-82AF-4785-A280-7EC9AC00E7CF}" type="datetime1">
              <a:rPr lang="en-US" smtClean="0"/>
              <a:t>3/28/2025</a:t>
            </a:fld>
            <a:endParaRPr lang="en-US" dirty="0"/>
          </a:p>
        </p:txBody>
      </p:sp>
      <p:sp>
        <p:nvSpPr>
          <p:cNvPr id="3" name="Footer Placeholder 2"/>
          <p:cNvSpPr>
            <a:spLocks noGrp="1"/>
          </p:cNvSpPr>
          <p:nvPr>
            <p:ph type="ftr" sz="quarter" idx="11"/>
          </p:nvPr>
        </p:nvSpPr>
        <p:spPr/>
        <p:txBody>
          <a:bodyPr/>
          <a:lstStyle/>
          <a:p>
            <a:r>
              <a:rPr lang="en-US"/>
              <a:t>Unit Test Code Coverage</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03707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9544AF48-6368-4AEB-BA61-86C35A0670BC}" type="datetime1">
              <a:rPr lang="en-US" smtClean="0"/>
              <a:t>3/28/2025</a:t>
            </a:fld>
            <a:endParaRPr lang="en-US" dirty="0"/>
          </a:p>
        </p:txBody>
      </p:sp>
      <p:sp>
        <p:nvSpPr>
          <p:cNvPr id="10" name="Footer Placeholder 9">
            <a:extLst>
              <a:ext uri="{FF2B5EF4-FFF2-40B4-BE49-F238E27FC236}">
                <a16:creationId xmlns=""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r>
              <a:rPr lang="en-US"/>
              <a:t>Unit Test Code Coverage</a:t>
            </a:r>
            <a:endParaRPr lang="en-US" dirty="0"/>
          </a:p>
        </p:txBody>
      </p:sp>
      <p:sp>
        <p:nvSpPr>
          <p:cNvPr id="11" name="Slide Number Placeholder 10">
            <a:extLst>
              <a:ext uri="{FF2B5EF4-FFF2-40B4-BE49-F238E27FC236}">
                <a16:creationId xmlns=""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666168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0AD317-F3FB-496C-99A4-43A2E3D62B38}" type="datetime1">
              <a:rPr lang="en-US" smtClean="0"/>
              <a:t>3/28/2025</a:t>
            </a:fld>
            <a:endParaRPr lang="en-US" dirty="0"/>
          </a:p>
        </p:txBody>
      </p:sp>
      <p:sp>
        <p:nvSpPr>
          <p:cNvPr id="6" name="Footer Placeholder 5"/>
          <p:cNvSpPr>
            <a:spLocks noGrp="1"/>
          </p:cNvSpPr>
          <p:nvPr>
            <p:ph type="ftr" sz="quarter" idx="11"/>
          </p:nvPr>
        </p:nvSpPr>
        <p:spPr/>
        <p:txBody>
          <a:bodyPr/>
          <a:lstStyle/>
          <a:p>
            <a:pPr algn="l"/>
            <a:r>
              <a:rPr lang="en-US"/>
              <a:t>Unit Test Code Coverage</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635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6D1A9-48E2-405B-ABFE-133730FF333B}" type="datetime1">
              <a:rPr lang="en-US" smtClean="0"/>
              <a:t>3/28/2025</a:t>
            </a:fld>
            <a:endParaRPr lang="en-US" dirty="0"/>
          </a:p>
        </p:txBody>
      </p:sp>
      <p:sp>
        <p:nvSpPr>
          <p:cNvPr id="5" name="Footer Placeholder 4"/>
          <p:cNvSpPr>
            <a:spLocks noGrp="1"/>
          </p:cNvSpPr>
          <p:nvPr>
            <p:ph type="ftr" sz="quarter" idx="11"/>
          </p:nvPr>
        </p:nvSpPr>
        <p:spPr/>
        <p:txBody>
          <a:bodyPr/>
          <a:lstStyle/>
          <a:p>
            <a:r>
              <a:rPr lang="en-US"/>
              <a:t>Unit Test Code Coverage</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4027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 xmlns:a16="http://schemas.microsoft.com/office/drawing/2014/main" id="{5C74A470-3BD3-4F33-80E5-67E6E87FCBE7}"/>
              </a:ext>
            </a:extLst>
          </p:cNvPr>
          <p:cNvSpPr>
            <a:spLocks noGrp="1"/>
          </p:cNvSpPr>
          <p:nvPr>
            <p:ph type="dt" sz="half" idx="10"/>
          </p:nvPr>
        </p:nvSpPr>
        <p:spPr/>
        <p:txBody>
          <a:bodyPr/>
          <a:lstStyle/>
          <a:p>
            <a:fld id="{80E4B351-D277-4D9E-BEB8-E1442F7FAC92}" type="datetime1">
              <a:rPr lang="en-US" smtClean="0"/>
              <a:t>3/28/2025</a:t>
            </a:fld>
            <a:endParaRPr lang="en-US" dirty="0"/>
          </a:p>
        </p:txBody>
      </p:sp>
      <p:sp>
        <p:nvSpPr>
          <p:cNvPr id="12" name="Footer Placeholder 11">
            <a:extLst>
              <a:ext uri="{FF2B5EF4-FFF2-40B4-BE49-F238E27FC236}">
                <a16:creationId xmlns="" xmlns:a16="http://schemas.microsoft.com/office/drawing/2014/main" id="{9A3A30BA-DB50-4D7D-BCDE-17D20FB354DF}"/>
              </a:ext>
            </a:extLst>
          </p:cNvPr>
          <p:cNvSpPr>
            <a:spLocks noGrp="1"/>
          </p:cNvSpPr>
          <p:nvPr>
            <p:ph type="ftr" sz="quarter" idx="11"/>
          </p:nvPr>
        </p:nvSpPr>
        <p:spPr/>
        <p:txBody>
          <a:bodyPr/>
          <a:lstStyle/>
          <a:p>
            <a:r>
              <a:rPr lang="en-US"/>
              <a:t>Unit Test Code Coverage</a:t>
            </a:r>
            <a:endParaRPr lang="en-US" dirty="0"/>
          </a:p>
        </p:txBody>
      </p:sp>
      <p:sp>
        <p:nvSpPr>
          <p:cNvPr id="13" name="Slide Number Placeholder 12">
            <a:extLst>
              <a:ext uri="{FF2B5EF4-FFF2-40B4-BE49-F238E27FC236}">
                <a16:creationId xmlns=""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9522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F43DAC16-7D30-46B5-81CA-4A6DF4F80339}" type="datetime1">
              <a:rPr lang="en-US" smtClean="0"/>
              <a:t>3/28/2025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r>
              <a:rPr lang="en-US"/>
              <a:t>Unit Test Code Coverage</a:t>
            </a:r>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567834981"/>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hd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github.com/mahbubur-r/neocortexapi/blob/Team_Anomaly_Detection/source/MySEProject/AnomalyDetectionSample/CsvSequenceFolder.c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github.com/mahbubur-r/neocortexapi/blob/Team_Anomaly_Detection/source/MySEProject/AnomalyDetectionSample/CSVToHTMInputConverter.c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github.com/mahbubur-r/neocortexapi/blob/Team_Anomaly_Detection/source/MySEProject/AnomalyDetectionSample/HTMAnomalyExperiment.cs" TargetMode="Externa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mahbubur-r/neocortexapi/blob/98ae630c79221e9d7a792282c5faabc08a2b794f/source/MySEProject/AnomalyDetectionSample/HTMAnomalyExperiment.cs#L105" TargetMode="Externa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probablymarcus.com/gorilla/?path=hotgym.clj"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mahbubur-r/neocortexapi/blob/Team_Anomaly_Detection/source/MySEProject/AnomalyDetectionSample/AnomalyGraphs.cs" TargetMode="Externa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 name="Rectangle 63">
            <a:extLst>
              <a:ext uri="{FF2B5EF4-FFF2-40B4-BE49-F238E27FC236}">
                <a16:creationId xmlns="" xmlns:a16="http://schemas.microsoft.com/office/drawing/2014/main" id="{DD651B61-325E-4E73-8445-38B0DE8AAAB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6" name="Rectangle 65">
            <a:extLst>
              <a:ext uri="{FF2B5EF4-FFF2-40B4-BE49-F238E27FC236}">
                <a16:creationId xmlns="" xmlns:a16="http://schemas.microsoft.com/office/drawing/2014/main" id="{B42E5253-D3AC-4AC2-B766-8B34F13C2F5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8" name="Rectangle 67">
            <a:extLst>
              <a:ext uri="{FF2B5EF4-FFF2-40B4-BE49-F238E27FC236}">
                <a16:creationId xmlns="" xmlns:a16="http://schemas.microsoft.com/office/drawing/2014/main" id="{10AE8D57-436A-4073-9A75-15BB5949F8B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70" name="Rectangle 69">
            <a:extLst>
              <a:ext uri="{FF2B5EF4-FFF2-40B4-BE49-F238E27FC236}">
                <a16:creationId xmlns="" xmlns:a16="http://schemas.microsoft.com/office/drawing/2014/main" id="{FBB53F82-F191-4EEB-AB7B-F69E634FA3E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3">
            <a:extLst>
              <a:ext uri="{FF2B5EF4-FFF2-40B4-BE49-F238E27FC236}">
                <a16:creationId xmlns="" xmlns:a16="http://schemas.microsoft.com/office/drawing/2014/main" id="{7F693C6B-DC40-BA5E-A313-043904EA6337}"/>
              </a:ext>
            </a:extLst>
          </p:cNvPr>
          <p:cNvSpPr>
            <a:spLocks noGrp="1"/>
          </p:cNvSpPr>
          <p:nvPr>
            <p:ph type="ctrTitle"/>
          </p:nvPr>
        </p:nvSpPr>
        <p:spPr>
          <a:xfrm>
            <a:off x="581192" y="702156"/>
            <a:ext cx="11029616" cy="1188720"/>
          </a:xfrm>
        </p:spPr>
        <p:txBody>
          <a:bodyPr vert="horz" lIns="91440" tIns="45720" rIns="91440" bIns="45720" rtlCol="0" anchor="b" anchorCtr="0">
            <a:normAutofit/>
          </a:bodyPr>
          <a:lstStyle/>
          <a:p>
            <a:r>
              <a:rPr lang="en-US" sz="2800" dirty="0">
                <a:latin typeface="Arial" panose="020B0604020202020204" pitchFamily="34" charset="0"/>
                <a:cs typeface="Arial" panose="020B0604020202020204" pitchFamily="34" charset="0"/>
              </a:rPr>
              <a:t>Project Title: Implement Anomaly Detection Sample</a:t>
            </a:r>
          </a:p>
        </p:txBody>
      </p:sp>
      <p:sp>
        <p:nvSpPr>
          <p:cNvPr id="72" name="Rectangle 71">
            <a:extLst>
              <a:ext uri="{FF2B5EF4-FFF2-40B4-BE49-F238E27FC236}">
                <a16:creationId xmlns="" xmlns:a16="http://schemas.microsoft.com/office/drawing/2014/main" id="{8616AA08-3831-473D-B61B-89484A33CF6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4" name="Rectangle 73">
            <a:extLst>
              <a:ext uri="{FF2B5EF4-FFF2-40B4-BE49-F238E27FC236}">
                <a16:creationId xmlns="" xmlns:a16="http://schemas.microsoft.com/office/drawing/2014/main" id="{8431B918-3A1C-46BA-9430-CAD97D9DA0F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6" name="Rectangle 75">
            <a:extLst>
              <a:ext uri="{FF2B5EF4-FFF2-40B4-BE49-F238E27FC236}">
                <a16:creationId xmlns="" xmlns:a16="http://schemas.microsoft.com/office/drawing/2014/main" id="{8400935A-2F82-4DC4-A4E1-E12EFB8C27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8" name="Rectangle 77">
            <a:extLst>
              <a:ext uri="{FF2B5EF4-FFF2-40B4-BE49-F238E27FC236}">
                <a16:creationId xmlns="" xmlns:a16="http://schemas.microsoft.com/office/drawing/2014/main" id="{A3D5D599-1CAE-4C92-B5AE-8E51AF6D47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 xmlns:a16="http://schemas.microsoft.com/office/drawing/2014/main" id="{B8EF81AB-8330-1414-5B26-8F5920F42CB5}"/>
              </a:ext>
            </a:extLst>
          </p:cNvPr>
          <p:cNvPicPr>
            <a:picLocks noChangeAspect="1"/>
          </p:cNvPicPr>
          <p:nvPr/>
        </p:nvPicPr>
        <p:blipFill>
          <a:blip r:embed="rId2"/>
          <a:stretch>
            <a:fillRect/>
          </a:stretch>
        </p:blipFill>
        <p:spPr>
          <a:xfrm>
            <a:off x="780698" y="3069357"/>
            <a:ext cx="4748741" cy="2264784"/>
          </a:xfrm>
          <a:prstGeom prst="rect">
            <a:avLst/>
          </a:prstGeom>
        </p:spPr>
      </p:pic>
      <p:sp>
        <p:nvSpPr>
          <p:cNvPr id="15" name="TextBox 14">
            <a:extLst>
              <a:ext uri="{FF2B5EF4-FFF2-40B4-BE49-F238E27FC236}">
                <a16:creationId xmlns="" xmlns:a16="http://schemas.microsoft.com/office/drawing/2014/main" id="{7DF8A82C-F912-F605-2497-C691FF890768}"/>
              </a:ext>
            </a:extLst>
          </p:cNvPr>
          <p:cNvSpPr txBox="1"/>
          <p:nvPr/>
        </p:nvSpPr>
        <p:spPr>
          <a:xfrm>
            <a:off x="6335805" y="2180496"/>
            <a:ext cx="5275001" cy="4045683"/>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buFont typeface="Wingdings 2" panose="05020102010507070707" pitchFamily="18" charset="2"/>
              <a:buChar char=""/>
            </a:pPr>
            <a:r>
              <a:rPr lang="en-US" b="1" dirty="0">
                <a:solidFill>
                  <a:schemeClr val="tx1">
                    <a:lumMod val="75000"/>
                    <a:lumOff val="25000"/>
                  </a:schemeClr>
                </a:solidFill>
                <a:latin typeface="Aptos" panose="020B0004020202020204" pitchFamily="34" charset="0"/>
              </a:rPr>
              <a:t>Supervised By:</a:t>
            </a:r>
            <a:r>
              <a:rPr lang="en-US" dirty="0">
                <a:solidFill>
                  <a:schemeClr val="tx1">
                    <a:lumMod val="75000"/>
                    <a:lumOff val="25000"/>
                  </a:schemeClr>
                </a:solidFill>
                <a:latin typeface="Aptos" panose="020B0004020202020204" pitchFamily="34" charset="0"/>
              </a:rPr>
              <a:t> Damir </a:t>
            </a:r>
            <a:r>
              <a:rPr lang="en-US" dirty="0" err="1">
                <a:solidFill>
                  <a:schemeClr val="tx1">
                    <a:lumMod val="75000"/>
                    <a:lumOff val="25000"/>
                  </a:schemeClr>
                </a:solidFill>
                <a:latin typeface="Aptos" panose="020B0004020202020204" pitchFamily="34" charset="0"/>
              </a:rPr>
              <a:t>Dobric</a:t>
            </a:r>
            <a:r>
              <a:rPr lang="en-US" dirty="0">
                <a:solidFill>
                  <a:schemeClr val="tx1">
                    <a:lumMod val="75000"/>
                    <a:lumOff val="25000"/>
                  </a:schemeClr>
                </a:solidFill>
                <a:latin typeface="Aptos" panose="020B0004020202020204" pitchFamily="34" charset="0"/>
              </a:rPr>
              <a:t> / Prof. Dr. Andreas </a:t>
            </a:r>
            <a:r>
              <a:rPr lang="en-US" dirty="0" err="1">
                <a:solidFill>
                  <a:schemeClr val="tx1">
                    <a:lumMod val="75000"/>
                    <a:lumOff val="25000"/>
                  </a:schemeClr>
                </a:solidFill>
                <a:latin typeface="Aptos" panose="020B0004020202020204" pitchFamily="34" charset="0"/>
              </a:rPr>
              <a:t>Pech</a:t>
            </a:r>
            <a:endParaRPr lang="en-US" dirty="0">
              <a:solidFill>
                <a:schemeClr val="tx1">
                  <a:lumMod val="75000"/>
                  <a:lumOff val="25000"/>
                </a:schemeClr>
              </a:solidFill>
              <a:latin typeface="Aptos" panose="020B0004020202020204" pitchFamily="34" charset="0"/>
            </a:endParaRPr>
          </a:p>
          <a:p>
            <a:pPr defTabSz="457200">
              <a:spcBef>
                <a:spcPct val="20000"/>
              </a:spcBef>
              <a:spcAft>
                <a:spcPts val="600"/>
              </a:spcAft>
              <a:buClr>
                <a:schemeClr val="accent1"/>
              </a:buClr>
              <a:buSzPct val="92000"/>
              <a:buFont typeface="Wingdings 2" panose="05020102010507070707" pitchFamily="18" charset="2"/>
              <a:buChar char=""/>
            </a:pPr>
            <a:r>
              <a:rPr lang="en-US" b="1" dirty="0">
                <a:solidFill>
                  <a:schemeClr val="tx1">
                    <a:lumMod val="75000"/>
                    <a:lumOff val="25000"/>
                  </a:schemeClr>
                </a:solidFill>
                <a:latin typeface="Aptos" panose="020B0004020202020204" pitchFamily="34" charset="0"/>
              </a:rPr>
              <a:t>Group Name:</a:t>
            </a:r>
            <a:r>
              <a:rPr lang="en-US" dirty="0">
                <a:solidFill>
                  <a:schemeClr val="tx1">
                    <a:lumMod val="75000"/>
                    <a:lumOff val="25000"/>
                  </a:schemeClr>
                </a:solidFill>
                <a:latin typeface="Aptos" panose="020B0004020202020204" pitchFamily="34" charset="0"/>
              </a:rPr>
              <a:t> </a:t>
            </a:r>
            <a:r>
              <a:rPr lang="en-US" dirty="0" err="1">
                <a:solidFill>
                  <a:schemeClr val="tx1">
                    <a:lumMod val="75000"/>
                    <a:lumOff val="25000"/>
                  </a:schemeClr>
                </a:solidFill>
                <a:latin typeface="Aptos" panose="020B0004020202020204" pitchFamily="34" charset="0"/>
              </a:rPr>
              <a:t>Team_Anomaly_Detection</a:t>
            </a:r>
            <a:endParaRPr lang="en-US" dirty="0">
              <a:solidFill>
                <a:schemeClr val="tx1">
                  <a:lumMod val="75000"/>
                  <a:lumOff val="25000"/>
                </a:schemeClr>
              </a:solidFill>
              <a:latin typeface="Aptos" panose="020B0004020202020204" pitchFamily="34" charset="0"/>
            </a:endParaRPr>
          </a:p>
          <a:p>
            <a:pPr defTabSz="457200">
              <a:spcBef>
                <a:spcPct val="20000"/>
              </a:spcBef>
              <a:spcAft>
                <a:spcPts val="600"/>
              </a:spcAft>
              <a:buClr>
                <a:schemeClr val="accent1"/>
              </a:buClr>
              <a:buSzPct val="92000"/>
              <a:buFont typeface="Wingdings 2" panose="05020102010507070707" pitchFamily="18" charset="2"/>
              <a:buChar char=""/>
            </a:pPr>
            <a:r>
              <a:rPr lang="en-US" b="1" dirty="0">
                <a:solidFill>
                  <a:schemeClr val="tx1">
                    <a:lumMod val="75000"/>
                    <a:lumOff val="25000"/>
                  </a:schemeClr>
                </a:solidFill>
                <a:latin typeface="Aptos" panose="020B0004020202020204" pitchFamily="34" charset="0"/>
              </a:rPr>
              <a:t>Members:</a:t>
            </a:r>
          </a:p>
          <a:p>
            <a:pPr marL="742950" lvl="1" indent="-285750" defTabSz="457200">
              <a:spcBef>
                <a:spcPct val="20000"/>
              </a:spcBef>
              <a:spcAft>
                <a:spcPts val="600"/>
              </a:spcAft>
              <a:buClr>
                <a:schemeClr val="accent1"/>
              </a:buClr>
              <a:buSzPct val="92000"/>
              <a:buFont typeface="Wingdings 2" panose="05020102010507070707" pitchFamily="18" charset="2"/>
              <a:buChar char=""/>
            </a:pPr>
            <a:r>
              <a:rPr lang="en-US" dirty="0" err="1">
                <a:solidFill>
                  <a:schemeClr val="tx1">
                    <a:lumMod val="75000"/>
                    <a:lumOff val="25000"/>
                  </a:schemeClr>
                </a:solidFill>
                <a:latin typeface="Aptos" panose="020B0004020202020204" pitchFamily="34" charset="0"/>
              </a:rPr>
              <a:t>Mahbubur</a:t>
            </a:r>
            <a:r>
              <a:rPr lang="en-US" dirty="0">
                <a:solidFill>
                  <a:schemeClr val="tx1">
                    <a:lumMod val="75000"/>
                    <a:lumOff val="25000"/>
                  </a:schemeClr>
                </a:solidFill>
                <a:latin typeface="Aptos" panose="020B0004020202020204" pitchFamily="34" charset="0"/>
              </a:rPr>
              <a:t> </a:t>
            </a:r>
            <a:r>
              <a:rPr lang="en-US" dirty="0" smtClean="0">
                <a:solidFill>
                  <a:schemeClr val="tx1">
                    <a:lumMod val="75000"/>
                    <a:lumOff val="25000"/>
                  </a:schemeClr>
                </a:solidFill>
                <a:latin typeface="Aptos" panose="020B0004020202020204" pitchFamily="34" charset="0"/>
              </a:rPr>
              <a:t>Rahman </a:t>
            </a:r>
            <a:r>
              <a:rPr lang="en-US" dirty="0" smtClean="0">
                <a:solidFill>
                  <a:schemeClr val="tx1">
                    <a:lumMod val="75000"/>
                    <a:lumOff val="25000"/>
                  </a:schemeClr>
                </a:solidFill>
                <a:latin typeface="Aptos" panose="020B0004020202020204" pitchFamily="34" charset="0"/>
              </a:rPr>
              <a:t> (1387353 </a:t>
            </a:r>
            <a:r>
              <a:rPr lang="en-US" dirty="0" smtClean="0">
                <a:solidFill>
                  <a:schemeClr val="tx1">
                    <a:lumMod val="75000"/>
                    <a:lumOff val="25000"/>
                  </a:schemeClr>
                </a:solidFill>
                <a:latin typeface="Aptos" panose="020B0004020202020204" pitchFamily="34" charset="0"/>
              </a:rPr>
              <a:t>)</a:t>
            </a:r>
            <a:endParaRPr lang="en-US" dirty="0">
              <a:solidFill>
                <a:schemeClr val="tx1">
                  <a:lumMod val="75000"/>
                  <a:lumOff val="25000"/>
                </a:schemeClr>
              </a:solidFill>
              <a:latin typeface="Aptos" panose="020B0004020202020204" pitchFamily="34" charset="0"/>
            </a:endParaRPr>
          </a:p>
          <a:p>
            <a:pPr marL="742950" lvl="1" indent="-285750" defTabSz="457200">
              <a:spcBef>
                <a:spcPct val="20000"/>
              </a:spcBef>
              <a:spcAft>
                <a:spcPts val="600"/>
              </a:spcAft>
              <a:buClr>
                <a:schemeClr val="accent1"/>
              </a:buClr>
              <a:buSzPct val="92000"/>
              <a:buFont typeface="Wingdings 2" panose="05020102010507070707" pitchFamily="18" charset="2"/>
              <a:buChar char=""/>
            </a:pPr>
            <a:r>
              <a:rPr lang="en-US" dirty="0">
                <a:solidFill>
                  <a:schemeClr val="tx1">
                    <a:lumMod val="75000"/>
                    <a:lumOff val="25000"/>
                  </a:schemeClr>
                </a:solidFill>
                <a:latin typeface="Aptos" panose="020B0004020202020204" pitchFamily="34" charset="0"/>
              </a:rPr>
              <a:t>Md </a:t>
            </a:r>
            <a:r>
              <a:rPr lang="en-US" dirty="0" err="1">
                <a:solidFill>
                  <a:schemeClr val="tx1">
                    <a:lumMod val="75000"/>
                    <a:lumOff val="25000"/>
                  </a:schemeClr>
                </a:solidFill>
                <a:latin typeface="Aptos" panose="020B0004020202020204" pitchFamily="34" charset="0"/>
              </a:rPr>
              <a:t>Zihadul</a:t>
            </a:r>
            <a:r>
              <a:rPr lang="en-US" dirty="0">
                <a:solidFill>
                  <a:schemeClr val="tx1">
                    <a:lumMod val="75000"/>
                    <a:lumOff val="25000"/>
                  </a:schemeClr>
                </a:solidFill>
                <a:latin typeface="Aptos" panose="020B0004020202020204" pitchFamily="34" charset="0"/>
              </a:rPr>
              <a:t> Islam </a:t>
            </a:r>
            <a:r>
              <a:rPr lang="en-US" dirty="0" smtClean="0">
                <a:solidFill>
                  <a:schemeClr val="tx1">
                    <a:lumMod val="75000"/>
                    <a:lumOff val="25000"/>
                  </a:schemeClr>
                </a:solidFill>
                <a:latin typeface="Aptos" panose="020B0004020202020204" pitchFamily="34" charset="0"/>
              </a:rPr>
              <a:t>Joni </a:t>
            </a:r>
            <a:r>
              <a:rPr lang="en-US" dirty="0" smtClean="0">
                <a:solidFill>
                  <a:schemeClr val="tx1">
                    <a:lumMod val="75000"/>
                    <a:lumOff val="25000"/>
                  </a:schemeClr>
                </a:solidFill>
                <a:latin typeface="Aptos" panose="020B0004020202020204" pitchFamily="34" charset="0"/>
              </a:rPr>
              <a:t> (1432923 </a:t>
            </a:r>
            <a:r>
              <a:rPr lang="en-US" dirty="0" smtClean="0">
                <a:solidFill>
                  <a:schemeClr val="tx1">
                    <a:lumMod val="75000"/>
                    <a:lumOff val="25000"/>
                  </a:schemeClr>
                </a:solidFill>
                <a:latin typeface="Aptos" panose="020B0004020202020204" pitchFamily="34" charset="0"/>
              </a:rPr>
              <a:t>)</a:t>
            </a:r>
            <a:endParaRPr lang="en-US" dirty="0">
              <a:solidFill>
                <a:schemeClr val="tx1">
                  <a:lumMod val="75000"/>
                  <a:lumOff val="25000"/>
                </a:schemeClr>
              </a:solidFill>
              <a:latin typeface="Aptos" panose="020B0004020202020204" pitchFamily="34" charset="0"/>
            </a:endParaRPr>
          </a:p>
          <a:p>
            <a:pPr marL="742950" lvl="1" indent="-285750" defTabSz="457200">
              <a:spcBef>
                <a:spcPct val="20000"/>
              </a:spcBef>
              <a:spcAft>
                <a:spcPts val="600"/>
              </a:spcAft>
              <a:buClr>
                <a:schemeClr val="accent1"/>
              </a:buClr>
              <a:buSzPct val="92000"/>
              <a:buFont typeface="Wingdings 2" panose="05020102010507070707" pitchFamily="18" charset="2"/>
              <a:buChar char=""/>
            </a:pPr>
            <a:r>
              <a:rPr lang="en-US" dirty="0">
                <a:solidFill>
                  <a:schemeClr val="tx1">
                    <a:lumMod val="75000"/>
                    <a:lumOff val="25000"/>
                  </a:schemeClr>
                </a:solidFill>
                <a:latin typeface="Aptos" panose="020B0004020202020204" pitchFamily="34" charset="0"/>
              </a:rPr>
              <a:t>Md Rakibul Islam </a:t>
            </a:r>
            <a:r>
              <a:rPr lang="en-US" dirty="0" smtClean="0">
                <a:solidFill>
                  <a:schemeClr val="tx1">
                    <a:lumMod val="75000"/>
                    <a:lumOff val="25000"/>
                  </a:schemeClr>
                </a:solidFill>
                <a:latin typeface="Aptos" panose="020B0004020202020204" pitchFamily="34" charset="0"/>
              </a:rPr>
              <a:t> (1431500 </a:t>
            </a:r>
            <a:r>
              <a:rPr lang="en-US" dirty="0" smtClean="0">
                <a:solidFill>
                  <a:schemeClr val="tx1">
                    <a:lumMod val="75000"/>
                    <a:lumOff val="25000"/>
                  </a:schemeClr>
                </a:solidFill>
                <a:latin typeface="Aptos" panose="020B0004020202020204" pitchFamily="34" charset="0"/>
              </a:rPr>
              <a:t>)</a:t>
            </a:r>
            <a:endParaRPr lang="en-US" dirty="0">
              <a:solidFill>
                <a:schemeClr val="tx1">
                  <a:lumMod val="75000"/>
                  <a:lumOff val="25000"/>
                </a:schemeClr>
              </a:solidFill>
              <a:latin typeface="Aptos" panose="020B0004020202020204" pitchFamily="34" charset="0"/>
            </a:endParaRPr>
          </a:p>
        </p:txBody>
      </p:sp>
      <p:sp>
        <p:nvSpPr>
          <p:cNvPr id="13" name="Slide Number Placeholder 12">
            <a:extLst>
              <a:ext uri="{FF2B5EF4-FFF2-40B4-BE49-F238E27FC236}">
                <a16:creationId xmlns="" xmlns:a16="http://schemas.microsoft.com/office/drawing/2014/main" id="{896CDD25-D80F-0169-698F-A382053777DD}"/>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defTabSz="457200">
              <a:spcAft>
                <a:spcPts val="600"/>
              </a:spcAft>
            </a:pPr>
            <a:fld id="{3A98EE3D-8CD1-4C3F-BD1C-C98C9596463C}" type="slidenum">
              <a:rPr lang="en-US" smtClean="0">
                <a:solidFill>
                  <a:srgbClr val="4A9ED3"/>
                </a:solidFill>
              </a:rPr>
              <a:pPr defTabSz="457200">
                <a:spcAft>
                  <a:spcPts val="600"/>
                </a:spcAft>
              </a:pPr>
              <a:t>1</a:t>
            </a:fld>
            <a:endParaRPr lang="en-US">
              <a:solidFill>
                <a:srgbClr val="4A9ED3"/>
              </a:solidFill>
            </a:endParaRPr>
          </a:p>
        </p:txBody>
      </p:sp>
    </p:spTree>
    <p:extLst>
      <p:ext uri="{BB962C8B-B14F-4D97-AF65-F5344CB8AC3E}">
        <p14:creationId xmlns:p14="http://schemas.microsoft.com/office/powerpoint/2010/main" val="585833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3">
            <a:extLst>
              <a:ext uri="{FF2B5EF4-FFF2-40B4-BE49-F238E27FC236}">
                <a16:creationId xmlns="" xmlns:a16="http://schemas.microsoft.com/office/drawing/2014/main" id="{AA9E537E-8F1D-CE1E-C433-D916E2A818CB}"/>
              </a:ext>
            </a:extLst>
          </p:cNvPr>
          <p:cNvSpPr txBox="1">
            <a:spLocks/>
          </p:cNvSpPr>
          <p:nvPr/>
        </p:nvSpPr>
        <p:spPr>
          <a:xfrm>
            <a:off x="581192" y="702156"/>
            <a:ext cx="11029616" cy="1188720"/>
          </a:xfrm>
          <a:prstGeom prst="rect">
            <a:avLst/>
          </a:prstGeom>
        </p:spPr>
        <p:txBody>
          <a:bodyPr vert="horz" lIns="91440" tIns="45720" rIns="91440" bIns="45720" rtlCol="0" anchor="b"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b="0" kern="1200" cap="all" dirty="0">
                <a:solidFill>
                  <a:schemeClr val="tx1">
                    <a:lumMod val="75000"/>
                    <a:lumOff val="25000"/>
                  </a:schemeClr>
                </a:solidFill>
                <a:latin typeface="+mj-lt"/>
                <a:ea typeface="+mj-ea"/>
                <a:cs typeface="+mj-cs"/>
              </a:rPr>
              <a:t>Overview</a:t>
            </a:r>
          </a:p>
        </p:txBody>
      </p:sp>
      <p:sp>
        <p:nvSpPr>
          <p:cNvPr id="5" name="Slide Number Placeholder 4">
            <a:extLst>
              <a:ext uri="{FF2B5EF4-FFF2-40B4-BE49-F238E27FC236}">
                <a16:creationId xmlns="" xmlns:a16="http://schemas.microsoft.com/office/drawing/2014/main" id="{2687D6E6-D5FA-4C9E-C76D-CC433D92DBC4}"/>
              </a:ext>
            </a:extLst>
          </p:cNvPr>
          <p:cNvSpPr>
            <a:spLocks noGrp="1"/>
          </p:cNvSpPr>
          <p:nvPr>
            <p:ph type="sldNum" sz="quarter" idx="12"/>
          </p:nvPr>
        </p:nvSpPr>
        <p:spPr>
          <a:xfrm>
            <a:off x="10558300" y="6423914"/>
            <a:ext cx="1052510" cy="365125"/>
          </a:xfrm>
        </p:spPr>
        <p:txBody>
          <a:bodyPr vert="horz" lIns="91440" tIns="45720" rIns="91440" bIns="45720" rtlCol="0" anchor="ctr">
            <a:normAutofit/>
          </a:bodyPr>
          <a:lstStyle/>
          <a:p>
            <a:pPr defTabSz="457200">
              <a:spcAft>
                <a:spcPts val="600"/>
              </a:spcAft>
            </a:pPr>
            <a:fld id="{3A98EE3D-8CD1-4C3F-BD1C-C98C9596463C}" type="slidenum">
              <a:rPr lang="en-US" smtClean="0"/>
              <a:pPr defTabSz="457200">
                <a:spcAft>
                  <a:spcPts val="600"/>
                </a:spcAft>
              </a:pPr>
              <a:t>2</a:t>
            </a:fld>
            <a:endParaRPr lang="en-US"/>
          </a:p>
        </p:txBody>
      </p:sp>
      <p:graphicFrame>
        <p:nvGraphicFramePr>
          <p:cNvPr id="6" name="TextBox 12">
            <a:extLst>
              <a:ext uri="{FF2B5EF4-FFF2-40B4-BE49-F238E27FC236}">
                <a16:creationId xmlns="" xmlns:a16="http://schemas.microsoft.com/office/drawing/2014/main" id="{20A849DE-F2B6-76CA-3767-636DCC681E3F}"/>
              </a:ext>
            </a:extLst>
          </p:cNvPr>
          <p:cNvGraphicFramePr/>
          <p:nvPr>
            <p:extLst>
              <p:ext uri="{D42A27DB-BD31-4B8C-83A1-F6EECF244321}">
                <p14:modId xmlns:p14="http://schemas.microsoft.com/office/powerpoint/2010/main" val="2244147138"/>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5059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3">
            <a:extLst>
              <a:ext uri="{FF2B5EF4-FFF2-40B4-BE49-F238E27FC236}">
                <a16:creationId xmlns="" xmlns:a16="http://schemas.microsoft.com/office/drawing/2014/main" id="{AA9E537E-8F1D-CE1E-C433-D916E2A818CB}"/>
              </a:ext>
            </a:extLst>
          </p:cNvPr>
          <p:cNvSpPr txBox="1">
            <a:spLocks/>
          </p:cNvSpPr>
          <p:nvPr/>
        </p:nvSpPr>
        <p:spPr>
          <a:xfrm>
            <a:off x="581192" y="702156"/>
            <a:ext cx="11029616" cy="1188720"/>
          </a:xfrm>
          <a:prstGeom prst="rect">
            <a:avLst/>
          </a:prstGeom>
        </p:spPr>
        <p:txBody>
          <a:bodyPr vert="horz" lIns="91440" tIns="45720" rIns="91440" bIns="45720" rtlCol="0" anchor="b"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b="0" kern="1200" cap="all" dirty="0">
                <a:solidFill>
                  <a:schemeClr val="tx1">
                    <a:lumMod val="75000"/>
                    <a:lumOff val="25000"/>
                  </a:schemeClr>
                </a:solidFill>
                <a:latin typeface="+mj-lt"/>
                <a:ea typeface="+mj-ea"/>
                <a:cs typeface="+mj-cs"/>
              </a:rPr>
              <a:t>Introduction</a:t>
            </a:r>
          </a:p>
        </p:txBody>
      </p:sp>
      <p:sp>
        <p:nvSpPr>
          <p:cNvPr id="83" name="Rectangle 82">
            <a:extLst>
              <a:ext uri="{FF2B5EF4-FFF2-40B4-BE49-F238E27FC236}">
                <a16:creationId xmlns="" xmlns:a16="http://schemas.microsoft.com/office/drawing/2014/main" id="{7A4CA679-3546-4E14-8FB8-F57168C376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5" name="Rectangle 84">
            <a:extLst>
              <a:ext uri="{FF2B5EF4-FFF2-40B4-BE49-F238E27FC236}">
                <a16:creationId xmlns="" xmlns:a16="http://schemas.microsoft.com/office/drawing/2014/main" id="{44D16E90-7C64-4C04-A50A-B866A1A92B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7" name="Rectangle 86">
            <a:extLst>
              <a:ext uri="{FF2B5EF4-FFF2-40B4-BE49-F238E27FC236}">
                <a16:creationId xmlns="" xmlns:a16="http://schemas.microsoft.com/office/drawing/2014/main" id="{DBE4DD59-5AA2-46C6-B6A8-9B4C62D1987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9" name="Rectangle 88">
            <a:extLst>
              <a:ext uri="{FF2B5EF4-FFF2-40B4-BE49-F238E27FC236}">
                <a16:creationId xmlns="" xmlns:a16="http://schemas.microsoft.com/office/drawing/2014/main" id="{160CE81C-67DC-489E-BFFB-877C80B854D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3" y="2180496"/>
            <a:ext cx="5404639" cy="4045683"/>
          </a:xfrm>
          <a:prstGeom prst="rect">
            <a:avLst/>
          </a:prstGeom>
          <a:solidFill>
            <a:srgbClr val="FFFFFF">
              <a:alpha val="80000"/>
            </a:srgbClr>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 xmlns:a16="http://schemas.microsoft.com/office/drawing/2014/main" id="{3140FB70-7989-012B-60A8-F4A5E53D89BA}"/>
              </a:ext>
            </a:extLst>
          </p:cNvPr>
          <p:cNvPicPr>
            <a:picLocks noChangeAspect="1"/>
          </p:cNvPicPr>
          <p:nvPr/>
        </p:nvPicPr>
        <p:blipFill>
          <a:blip r:embed="rId2"/>
          <a:srcRect r="29601" b="2"/>
          <a:stretch/>
        </p:blipFill>
        <p:spPr>
          <a:xfrm>
            <a:off x="611392" y="2347105"/>
            <a:ext cx="5074920" cy="3712464"/>
          </a:xfrm>
          <a:prstGeom prst="rect">
            <a:avLst/>
          </a:prstGeom>
        </p:spPr>
      </p:pic>
      <p:sp>
        <p:nvSpPr>
          <p:cNvPr id="11" name="TextBox 10">
            <a:extLst>
              <a:ext uri="{FF2B5EF4-FFF2-40B4-BE49-F238E27FC236}">
                <a16:creationId xmlns="" xmlns:a16="http://schemas.microsoft.com/office/drawing/2014/main" id="{0A256CA7-6A0C-FB27-AC2A-B98A50325886}"/>
              </a:ext>
            </a:extLst>
          </p:cNvPr>
          <p:cNvSpPr txBox="1"/>
          <p:nvPr/>
        </p:nvSpPr>
        <p:spPr>
          <a:xfrm>
            <a:off x="5985831" y="1040235"/>
            <a:ext cx="5759636" cy="4104995"/>
          </a:xfrm>
          <a:prstGeom prst="rect">
            <a:avLst/>
          </a:prstGeom>
        </p:spPr>
        <p:txBody>
          <a:bodyPr vert="horz" lIns="91440" tIns="45720" rIns="91440" bIns="45720" rtlCol="0" anchor="ctr">
            <a:normAutofit/>
          </a:bodyPr>
          <a:lstStyle/>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1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1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1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1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dirty="0">
              <a:solidFill>
                <a:schemeClr val="tx1">
                  <a:lumMod val="75000"/>
                  <a:lumOff val="25000"/>
                </a:schemeClr>
              </a:solidFill>
            </a:endParaRPr>
          </a:p>
          <a:p>
            <a:pPr algn="just" defTabSz="457200">
              <a:lnSpc>
                <a:spcPct val="90000"/>
              </a:lnSpc>
              <a:spcBef>
                <a:spcPct val="20000"/>
              </a:spcBef>
              <a:spcAft>
                <a:spcPts val="600"/>
              </a:spcAft>
              <a:buClr>
                <a:schemeClr val="accent1"/>
              </a:buClr>
              <a:buSzPct val="92000"/>
              <a:buFont typeface="Wingdings 2" panose="05020102010507070707" pitchFamily="18" charset="2"/>
              <a:buChar char=""/>
            </a:pPr>
            <a:r>
              <a:rPr lang="en-US" dirty="0">
                <a:solidFill>
                  <a:schemeClr val="tx1">
                    <a:lumMod val="75000"/>
                    <a:lumOff val="25000"/>
                  </a:schemeClr>
                </a:solidFill>
              </a:rPr>
              <a:t>WHAT IS ANOMALY? Deviations from the expected value of an event within a group</a:t>
            </a:r>
          </a:p>
          <a:p>
            <a:pPr algn="just" defTabSz="457200">
              <a:lnSpc>
                <a:spcPct val="90000"/>
              </a:lnSpc>
              <a:spcBef>
                <a:spcPct val="20000"/>
              </a:spcBef>
              <a:spcAft>
                <a:spcPts val="600"/>
              </a:spcAft>
              <a:buClr>
                <a:schemeClr val="accent1"/>
              </a:buClr>
              <a:buSzPct val="92000"/>
              <a:buFont typeface="Wingdings 2" panose="05020102010507070707" pitchFamily="18" charset="2"/>
              <a:buChar char=""/>
            </a:pPr>
            <a:r>
              <a:rPr lang="en-US" dirty="0">
                <a:solidFill>
                  <a:schemeClr val="tx1">
                    <a:lumMod val="75000"/>
                    <a:lumOff val="25000"/>
                  </a:schemeClr>
                </a:solidFill>
                <a:effectLst/>
              </a:rPr>
              <a:t>Anomaly detection is an important technique used in many fields and applications. A recent trend in the field is that more and more applications and systems are being built to detect anomalies continuously in real time. </a:t>
            </a:r>
            <a:endParaRPr lang="en-US" dirty="0">
              <a:solidFill>
                <a:schemeClr val="tx1">
                  <a:lumMod val="75000"/>
                  <a:lumOff val="25000"/>
                </a:schemeClr>
              </a:solidFill>
            </a:endParaRPr>
          </a:p>
        </p:txBody>
      </p:sp>
      <p:sp>
        <p:nvSpPr>
          <p:cNvPr id="5" name="Slide Number Placeholder 4">
            <a:extLst>
              <a:ext uri="{FF2B5EF4-FFF2-40B4-BE49-F238E27FC236}">
                <a16:creationId xmlns="" xmlns:a16="http://schemas.microsoft.com/office/drawing/2014/main" id="{2687D6E6-D5FA-4C9E-C76D-CC433D92DBC4}"/>
              </a:ext>
            </a:extLst>
          </p:cNvPr>
          <p:cNvSpPr>
            <a:spLocks noGrp="1"/>
          </p:cNvSpPr>
          <p:nvPr>
            <p:ph type="sldNum" sz="quarter" idx="12"/>
          </p:nvPr>
        </p:nvSpPr>
        <p:spPr>
          <a:xfrm>
            <a:off x="10558300" y="6423914"/>
            <a:ext cx="1052510" cy="365125"/>
          </a:xfrm>
        </p:spPr>
        <p:txBody>
          <a:bodyPr vert="horz" lIns="91440" tIns="45720" rIns="91440" bIns="45720" rtlCol="0" anchor="ctr">
            <a:normAutofit/>
          </a:bodyPr>
          <a:lstStyle/>
          <a:p>
            <a:pPr defTabSz="457200">
              <a:spcAft>
                <a:spcPts val="600"/>
              </a:spcAft>
            </a:pPr>
            <a:fld id="{3A98EE3D-8CD1-4C3F-BD1C-C98C9596463C}" type="slidenum">
              <a:rPr lang="en-US" smtClean="0">
                <a:solidFill>
                  <a:srgbClr val="FF4200"/>
                </a:solidFill>
              </a:rPr>
              <a:pPr defTabSz="457200">
                <a:spcAft>
                  <a:spcPts val="600"/>
                </a:spcAft>
              </a:pPr>
              <a:t>3</a:t>
            </a:fld>
            <a:endParaRPr lang="en-US">
              <a:solidFill>
                <a:srgbClr val="FF4200"/>
              </a:solidFill>
            </a:endParaRPr>
          </a:p>
        </p:txBody>
      </p:sp>
    </p:spTree>
    <p:extLst>
      <p:ext uri="{BB962C8B-B14F-4D97-AF65-F5344CB8AC3E}">
        <p14:creationId xmlns:p14="http://schemas.microsoft.com/office/powerpoint/2010/main" val="883187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A272F8-CA81-B559-5E60-42EB491F7B65}"/>
              </a:ext>
            </a:extLst>
          </p:cNvPr>
          <p:cNvSpPr>
            <a:spLocks noGrp="1"/>
          </p:cNvSpPr>
          <p:nvPr>
            <p:ph type="title"/>
          </p:nvPr>
        </p:nvSpPr>
        <p:spPr/>
        <p:txBody>
          <a:bodyPr/>
          <a:lstStyle/>
          <a:p>
            <a:r>
              <a:rPr lang="en-US" dirty="0">
                <a:solidFill>
                  <a:schemeClr val="tx1">
                    <a:lumMod val="75000"/>
                    <a:lumOff val="25000"/>
                  </a:schemeClr>
                </a:solidFill>
                <a:effectLst/>
              </a:rPr>
              <a:t>Anomaly detection</a:t>
            </a:r>
            <a:endParaRPr lang="en-US" dirty="0"/>
          </a:p>
        </p:txBody>
      </p:sp>
      <p:sp>
        <p:nvSpPr>
          <p:cNvPr id="3" name="Content Placeholder 2">
            <a:extLst>
              <a:ext uri="{FF2B5EF4-FFF2-40B4-BE49-F238E27FC236}">
                <a16:creationId xmlns="" xmlns:a16="http://schemas.microsoft.com/office/drawing/2014/main" id="{6CADD337-55A2-E529-4AF7-BBBDF6B668E4}"/>
              </a:ext>
            </a:extLst>
          </p:cNvPr>
          <p:cNvSpPr>
            <a:spLocks noGrp="1"/>
          </p:cNvSpPr>
          <p:nvPr>
            <p:ph idx="1"/>
          </p:nvPr>
        </p:nvSpPr>
        <p:spPr>
          <a:xfrm>
            <a:off x="581192" y="2340864"/>
            <a:ext cx="11029615" cy="2768031"/>
          </a:xfrm>
        </p:spPr>
        <p:txBody>
          <a:bodyPr/>
          <a:lstStyle/>
          <a:p>
            <a:r>
              <a:rPr lang="en-US" dirty="0">
                <a:solidFill>
                  <a:schemeClr val="tx1">
                    <a:lumMod val="75000"/>
                    <a:lumOff val="25000"/>
                  </a:schemeClr>
                </a:solidFill>
                <a:effectLst/>
              </a:rPr>
              <a:t>Detection of anomalies is a major issue that has been studied for centuries, but it is only recently that there has been an increase in the number of methods for detecting these outliers. Numerous distinct methods have been developed and used to detect anomalous patterns for different applications.</a:t>
            </a:r>
          </a:p>
          <a:p>
            <a:r>
              <a:rPr lang="en-US" dirty="0">
                <a:solidFill>
                  <a:schemeClr val="tx1">
                    <a:lumMod val="75000"/>
                    <a:lumOff val="25000"/>
                  </a:schemeClr>
                </a:solidFill>
                <a:effectLst/>
              </a:rPr>
              <a:t> An example of medical application is heart rate monitors, where a shock at a certain interval indicates an irregular rhythm. Other examples include fraud detection, loan application processing or monitoring of medical conditions, cyber security intrusion detection systems that monitor server logs for abnormal activities, fault detection for aviation safety studies</a:t>
            </a:r>
            <a:endParaRPr lang="en-US" dirty="0"/>
          </a:p>
        </p:txBody>
      </p:sp>
      <p:sp>
        <p:nvSpPr>
          <p:cNvPr id="4" name="Footer Placeholder 3">
            <a:extLst>
              <a:ext uri="{FF2B5EF4-FFF2-40B4-BE49-F238E27FC236}">
                <a16:creationId xmlns="" xmlns:a16="http://schemas.microsoft.com/office/drawing/2014/main" id="{116E4F7F-E3DB-F544-9470-FB8E947DB73A}"/>
              </a:ext>
            </a:extLst>
          </p:cNvPr>
          <p:cNvSpPr>
            <a:spLocks noGrp="1"/>
          </p:cNvSpPr>
          <p:nvPr>
            <p:ph type="ftr" sz="quarter" idx="11"/>
          </p:nvPr>
        </p:nvSpPr>
        <p:spPr/>
        <p:txBody>
          <a:bodyPr/>
          <a:lstStyle/>
          <a:p>
            <a:r>
              <a:rPr lang="en-US"/>
              <a:t>Unit Test Code Coverage</a:t>
            </a:r>
            <a:endParaRPr lang="en-US" dirty="0"/>
          </a:p>
        </p:txBody>
      </p:sp>
      <p:sp>
        <p:nvSpPr>
          <p:cNvPr id="5" name="Slide Number Placeholder 4">
            <a:extLst>
              <a:ext uri="{FF2B5EF4-FFF2-40B4-BE49-F238E27FC236}">
                <a16:creationId xmlns="" xmlns:a16="http://schemas.microsoft.com/office/drawing/2014/main" id="{5D515657-A0F0-3C3C-F6FC-747BC499D557}"/>
              </a:ext>
            </a:extLst>
          </p:cNvPr>
          <p:cNvSpPr>
            <a:spLocks noGrp="1"/>
          </p:cNvSpPr>
          <p:nvPr>
            <p:ph type="sldNum" sz="quarter" idx="12"/>
          </p:nvPr>
        </p:nvSpPr>
        <p:spPr/>
        <p:txBody>
          <a:bodyPr/>
          <a:lstStyle/>
          <a:p>
            <a:fld id="{3A98EE3D-8CD1-4C3F-BD1C-C98C9596463C}" type="slidenum">
              <a:rPr lang="en-US" smtClean="0"/>
              <a:t>4</a:t>
            </a:fld>
            <a:endParaRPr lang="en-US" dirty="0"/>
          </a:p>
        </p:txBody>
      </p:sp>
    </p:spTree>
    <p:extLst>
      <p:ext uri="{BB962C8B-B14F-4D97-AF65-F5344CB8AC3E}">
        <p14:creationId xmlns:p14="http://schemas.microsoft.com/office/powerpoint/2010/main" val="284759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 xmlns:a16="http://schemas.microsoft.com/office/drawing/2014/main" id="{FBB53F82-F191-4EEB-AB7B-F69E634FA3E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3">
            <a:extLst>
              <a:ext uri="{FF2B5EF4-FFF2-40B4-BE49-F238E27FC236}">
                <a16:creationId xmlns="" xmlns:a16="http://schemas.microsoft.com/office/drawing/2014/main" id="{AA9E537E-8F1D-CE1E-C433-D916E2A818CB}"/>
              </a:ext>
            </a:extLst>
          </p:cNvPr>
          <p:cNvSpPr txBox="1">
            <a:spLocks/>
          </p:cNvSpPr>
          <p:nvPr/>
        </p:nvSpPr>
        <p:spPr>
          <a:xfrm>
            <a:off x="581192" y="702156"/>
            <a:ext cx="11029616" cy="1188720"/>
          </a:xfrm>
          <a:prstGeom prst="rect">
            <a:avLst/>
          </a:prstGeom>
        </p:spPr>
        <p:txBody>
          <a:bodyPr vert="horz" lIns="91440" tIns="45720" rIns="91440" bIns="45720" rtlCol="0" anchor="b"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a:t>PROject objective</a:t>
            </a:r>
          </a:p>
        </p:txBody>
      </p:sp>
      <p:sp>
        <p:nvSpPr>
          <p:cNvPr id="54" name="Rectangle 53">
            <a:extLst>
              <a:ext uri="{FF2B5EF4-FFF2-40B4-BE49-F238E27FC236}">
                <a16:creationId xmlns="" xmlns:a16="http://schemas.microsoft.com/office/drawing/2014/main" id="{8616AA08-3831-473D-B61B-89484A33CF6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56" name="Rectangle 55">
            <a:extLst>
              <a:ext uri="{FF2B5EF4-FFF2-40B4-BE49-F238E27FC236}">
                <a16:creationId xmlns="" xmlns:a16="http://schemas.microsoft.com/office/drawing/2014/main" id="{8431B918-3A1C-46BA-9430-CAD97D9DA0F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58" name="Rectangle 57">
            <a:extLst>
              <a:ext uri="{FF2B5EF4-FFF2-40B4-BE49-F238E27FC236}">
                <a16:creationId xmlns="" xmlns:a16="http://schemas.microsoft.com/office/drawing/2014/main" id="{8400935A-2F82-4DC4-A4E1-E12EFB8C27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2" name="TextBox 1">
            <a:extLst>
              <a:ext uri="{FF2B5EF4-FFF2-40B4-BE49-F238E27FC236}">
                <a16:creationId xmlns="" xmlns:a16="http://schemas.microsoft.com/office/drawing/2014/main" id="{4E4FBD38-98FE-708B-176F-660D1AFDE71D}"/>
              </a:ext>
            </a:extLst>
          </p:cNvPr>
          <p:cNvSpPr txBox="1"/>
          <p:nvPr/>
        </p:nvSpPr>
        <p:spPr>
          <a:xfrm>
            <a:off x="581193" y="2180496"/>
            <a:ext cx="6917210" cy="4045683"/>
          </a:xfrm>
          <a:prstGeom prst="rect">
            <a:avLst/>
          </a:prstGeom>
        </p:spPr>
        <p:txBody>
          <a:bodyPr vert="horz" lIns="91440" tIns="45720" rIns="91440" bIns="45720" rtlCol="0" anchor="ctr">
            <a:normAutofit/>
          </a:bodyPr>
          <a:lstStyle/>
          <a:p>
            <a:pPr algn="just" defTabSz="457200">
              <a:spcBef>
                <a:spcPct val="20000"/>
              </a:spcBef>
              <a:spcAft>
                <a:spcPts val="600"/>
              </a:spcAft>
              <a:buClr>
                <a:schemeClr val="accent1"/>
              </a:buClr>
              <a:buSzPct val="92000"/>
              <a:buFont typeface="Wingdings 2" panose="05020102010507070707" pitchFamily="18" charset="2"/>
              <a:buChar char=""/>
            </a:pPr>
            <a:r>
              <a:rPr lang="en-US" b="0" i="0" dirty="0">
                <a:solidFill>
                  <a:schemeClr val="tx1">
                    <a:lumMod val="75000"/>
                    <a:lumOff val="25000"/>
                  </a:schemeClr>
                </a:solidFill>
                <a:effectLst/>
              </a:rPr>
              <a:t>HTM (Hierarchical Temporal Memory) is a machine learning algorithm that processes time-series data in a distributed manner using a hierarchical network of nodes. Each nodes, or columns, can be trained to learn, and recognize patterns in input data. This can be used in identifying anomalies/deviations from normal patterns. It is a promising method for predicting and detecting anomalies in a range of applications. In this project, we will train our HTM Engine using the multisequence learning class in the </a:t>
            </a:r>
            <a:r>
              <a:rPr lang="en-US" b="0" i="0" dirty="0" err="1">
                <a:solidFill>
                  <a:schemeClr val="tx1">
                    <a:lumMod val="75000"/>
                    <a:lumOff val="25000"/>
                  </a:schemeClr>
                </a:solidFill>
                <a:effectLst/>
              </a:rPr>
              <a:t>NeoCortex</a:t>
            </a:r>
            <a:r>
              <a:rPr lang="en-US" b="0" i="0" dirty="0">
                <a:solidFill>
                  <a:schemeClr val="tx1">
                    <a:lumMod val="75000"/>
                    <a:lumOff val="25000"/>
                  </a:schemeClr>
                </a:solidFill>
                <a:effectLst/>
              </a:rPr>
              <a:t> API and then use the trained engine to learn patterns and identify anomalies. Specifically, numerical sequences will be read from various CSV files inside a folder in order to create an anomaly detection system.</a:t>
            </a:r>
            <a:endParaRPr lang="en-US" dirty="0">
              <a:solidFill>
                <a:schemeClr val="tx1">
                  <a:lumMod val="75000"/>
                  <a:lumOff val="25000"/>
                </a:schemeClr>
              </a:solidFill>
            </a:endParaRPr>
          </a:p>
        </p:txBody>
      </p:sp>
      <p:sp>
        <p:nvSpPr>
          <p:cNvPr id="60" name="Rectangle 59">
            <a:extLst>
              <a:ext uri="{FF2B5EF4-FFF2-40B4-BE49-F238E27FC236}">
                <a16:creationId xmlns="" xmlns:a16="http://schemas.microsoft.com/office/drawing/2014/main" id="{A3D5D599-1CAE-4C92-B5AE-8E51AF6D47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6" y="2180496"/>
            <a:ext cx="3703321"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Graphic 33" descr="Fingerprint">
            <a:extLst>
              <a:ext uri="{FF2B5EF4-FFF2-40B4-BE49-F238E27FC236}">
                <a16:creationId xmlns="" xmlns:a16="http://schemas.microsoft.com/office/drawing/2014/main" id="{3D7611D3-C89D-BED0-5F9A-1402C93C360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363915" y="2671858"/>
            <a:ext cx="3059782" cy="3059782"/>
          </a:xfrm>
          <a:prstGeom prst="rect">
            <a:avLst/>
          </a:prstGeom>
        </p:spPr>
      </p:pic>
      <p:sp>
        <p:nvSpPr>
          <p:cNvPr id="5" name="Slide Number Placeholder 4">
            <a:extLst>
              <a:ext uri="{FF2B5EF4-FFF2-40B4-BE49-F238E27FC236}">
                <a16:creationId xmlns="" xmlns:a16="http://schemas.microsoft.com/office/drawing/2014/main" id="{2687D6E6-D5FA-4C9E-C76D-CC433D92DBC4}"/>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defTabSz="457200">
              <a:spcAft>
                <a:spcPts val="600"/>
              </a:spcAft>
            </a:pPr>
            <a:fld id="{3A98EE3D-8CD1-4C3F-BD1C-C98C9596463C}" type="slidenum">
              <a:rPr lang="en-US" smtClean="0"/>
              <a:pPr defTabSz="457200">
                <a:spcAft>
                  <a:spcPts val="600"/>
                </a:spcAft>
              </a:pPr>
              <a:t>5</a:t>
            </a:fld>
            <a:endParaRPr lang="en-US"/>
          </a:p>
        </p:txBody>
      </p:sp>
    </p:spTree>
    <p:extLst>
      <p:ext uri="{BB962C8B-B14F-4D97-AF65-F5344CB8AC3E}">
        <p14:creationId xmlns:p14="http://schemas.microsoft.com/office/powerpoint/2010/main" val="2669834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 xmlns:a16="http://schemas.microsoft.com/office/drawing/2014/main" id="{8D2B4922-7602-46A0-9EEB-1F737C65FE3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3">
            <a:extLst>
              <a:ext uri="{FF2B5EF4-FFF2-40B4-BE49-F238E27FC236}">
                <a16:creationId xmlns="" xmlns:a16="http://schemas.microsoft.com/office/drawing/2014/main" id="{AA9E537E-8F1D-CE1E-C433-D916E2A818CB}"/>
              </a:ext>
            </a:extLst>
          </p:cNvPr>
          <p:cNvSpPr txBox="1">
            <a:spLocks/>
          </p:cNvSpPr>
          <p:nvPr/>
        </p:nvSpPr>
        <p:spPr>
          <a:xfrm>
            <a:off x="581192" y="702156"/>
            <a:ext cx="11029616" cy="1188720"/>
          </a:xfrm>
          <a:prstGeom prst="rect">
            <a:avLst/>
          </a:prstGeom>
        </p:spPr>
        <p:txBody>
          <a:bodyPr vert="horz" lIns="91440" tIns="45720" rIns="91440" bIns="45720" rtlCol="0" anchor="b"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a:t>methodology</a:t>
            </a:r>
          </a:p>
        </p:txBody>
      </p:sp>
      <p:sp>
        <p:nvSpPr>
          <p:cNvPr id="25" name="Rectangle 24">
            <a:extLst>
              <a:ext uri="{FF2B5EF4-FFF2-40B4-BE49-F238E27FC236}">
                <a16:creationId xmlns="" xmlns:a16="http://schemas.microsoft.com/office/drawing/2014/main" id="{970450C2-785F-4B9A-ADCF-A3081A1CF7E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27" name="Rectangle 26">
            <a:extLst>
              <a:ext uri="{FF2B5EF4-FFF2-40B4-BE49-F238E27FC236}">
                <a16:creationId xmlns="" xmlns:a16="http://schemas.microsoft.com/office/drawing/2014/main" id="{6616FE08-2FA4-454F-8805-C2B340EE8CB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29" name="Rectangle 28">
            <a:extLst>
              <a:ext uri="{FF2B5EF4-FFF2-40B4-BE49-F238E27FC236}">
                <a16:creationId xmlns="" xmlns:a16="http://schemas.microsoft.com/office/drawing/2014/main" id="{AD6FD8DB-BEB0-487A-910E-E4D3E89D738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31" name="Rectangle 30">
            <a:extLst>
              <a:ext uri="{FF2B5EF4-FFF2-40B4-BE49-F238E27FC236}">
                <a16:creationId xmlns="" xmlns:a16="http://schemas.microsoft.com/office/drawing/2014/main" id="{E7F0B04F-9887-478F-B1F0-5B28D467D12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2180496"/>
            <a:ext cx="3703320"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descr="Classroom">
            <a:extLst>
              <a:ext uri="{FF2B5EF4-FFF2-40B4-BE49-F238E27FC236}">
                <a16:creationId xmlns="" xmlns:a16="http://schemas.microsoft.com/office/drawing/2014/main" id="{319CF8DE-3F88-B603-313D-CB7F42DE8C8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776650" y="2682603"/>
            <a:ext cx="3061163" cy="3061163"/>
          </a:xfrm>
          <a:prstGeom prst="rect">
            <a:avLst/>
          </a:prstGeom>
        </p:spPr>
      </p:pic>
      <p:sp>
        <p:nvSpPr>
          <p:cNvPr id="9" name="TextBox 8">
            <a:extLst>
              <a:ext uri="{FF2B5EF4-FFF2-40B4-BE49-F238E27FC236}">
                <a16:creationId xmlns="" xmlns:a16="http://schemas.microsoft.com/office/drawing/2014/main" id="{0B0DB645-E53B-7D27-B28E-902D6BB9DE4D}"/>
              </a:ext>
            </a:extLst>
          </p:cNvPr>
          <p:cNvSpPr txBox="1"/>
          <p:nvPr/>
        </p:nvSpPr>
        <p:spPr>
          <a:xfrm>
            <a:off x="4505326" y="2180497"/>
            <a:ext cx="6755510" cy="3326876"/>
          </a:xfrm>
          <a:prstGeom prst="rect">
            <a:avLst/>
          </a:prstGeom>
        </p:spPr>
        <p:txBody>
          <a:bodyPr vert="horz" lIns="91440" tIns="45720" rIns="91440" bIns="45720" rtlCol="0" anchor="ctr">
            <a:normAutofit/>
          </a:bodyPr>
          <a:lstStyle/>
          <a:p>
            <a:pPr defTabSz="457200">
              <a:spcBef>
                <a:spcPct val="20000"/>
              </a:spcBef>
              <a:spcAft>
                <a:spcPts val="600"/>
              </a:spcAft>
              <a:buClr>
                <a:schemeClr val="accent1"/>
              </a:buClr>
              <a:buSzPct val="92000"/>
            </a:pPr>
            <a:r>
              <a:rPr lang="en-US" sz="1700" dirty="0">
                <a:solidFill>
                  <a:schemeClr val="tx1">
                    <a:lumMod val="75000"/>
                    <a:lumOff val="25000"/>
                  </a:schemeClr>
                </a:solidFill>
              </a:rPr>
              <a:t>We are going to use multisequence learning class of </a:t>
            </a:r>
            <a:r>
              <a:rPr lang="en-US" sz="1700" dirty="0" err="1">
                <a:solidFill>
                  <a:schemeClr val="tx1">
                    <a:lumMod val="75000"/>
                    <a:lumOff val="25000"/>
                  </a:schemeClr>
                </a:solidFill>
              </a:rPr>
              <a:t>NeoCortex</a:t>
            </a:r>
            <a:r>
              <a:rPr lang="en-US" sz="1700" dirty="0">
                <a:solidFill>
                  <a:schemeClr val="tx1">
                    <a:lumMod val="75000"/>
                    <a:lumOff val="25000"/>
                  </a:schemeClr>
                </a:solidFill>
              </a:rPr>
              <a:t> API as base of our project. It will help use with both training our HTM model and using it for prediction. The class works in the following way: </a:t>
            </a:r>
          </a:p>
          <a:p>
            <a:pPr defTabSz="457200">
              <a:spcBef>
                <a:spcPct val="20000"/>
              </a:spcBef>
              <a:spcAft>
                <a:spcPts val="600"/>
              </a:spcAft>
              <a:buClr>
                <a:schemeClr val="accent1"/>
              </a:buClr>
              <a:buSzPct val="92000"/>
              <a:buFont typeface="Wingdings 2" panose="05020102010507070707" pitchFamily="18" charset="2"/>
              <a:buChar char=""/>
            </a:pPr>
            <a:endParaRPr lang="en-US" sz="1700" dirty="0">
              <a:solidFill>
                <a:schemeClr val="tx1">
                  <a:lumMod val="75000"/>
                  <a:lumOff val="25000"/>
                </a:schemeClr>
              </a:solidFill>
            </a:endParaRPr>
          </a:p>
          <a:p>
            <a:pPr marL="285750" indent="-285750" defTabSz="457200">
              <a:spcBef>
                <a:spcPct val="20000"/>
              </a:spcBef>
              <a:spcAft>
                <a:spcPts val="600"/>
              </a:spcAft>
              <a:buClr>
                <a:schemeClr val="accent1"/>
              </a:buClr>
              <a:buSzPct val="92000"/>
              <a:buFont typeface="Wingdings 2" panose="05020102010507070707" pitchFamily="18" charset="2"/>
              <a:buChar char=""/>
            </a:pPr>
            <a:r>
              <a:rPr lang="en-US" sz="1700" dirty="0">
                <a:solidFill>
                  <a:schemeClr val="tx1">
                    <a:lumMod val="75000"/>
                    <a:lumOff val="25000"/>
                  </a:schemeClr>
                </a:solidFill>
              </a:rPr>
              <a:t>HTM Configuration is taken, and memory of connections are initialized. After that, HTM Classifier, Cortex layer and </a:t>
            </a:r>
            <a:r>
              <a:rPr lang="en-US" sz="1700" dirty="0" err="1">
                <a:solidFill>
                  <a:schemeClr val="tx1">
                    <a:lumMod val="75000"/>
                    <a:lumOff val="25000"/>
                  </a:schemeClr>
                </a:solidFill>
              </a:rPr>
              <a:t>HomeostaticPlasticityController</a:t>
            </a:r>
            <a:r>
              <a:rPr lang="en-US" sz="1700" dirty="0">
                <a:solidFill>
                  <a:schemeClr val="tx1">
                    <a:lumMod val="75000"/>
                    <a:lumOff val="25000"/>
                  </a:schemeClr>
                </a:solidFill>
              </a:rPr>
              <a:t> are initialized. </a:t>
            </a:r>
          </a:p>
          <a:p>
            <a:pPr marL="285750" indent="-285750" defTabSz="457200">
              <a:spcBef>
                <a:spcPct val="20000"/>
              </a:spcBef>
              <a:spcAft>
                <a:spcPts val="600"/>
              </a:spcAft>
              <a:buClr>
                <a:schemeClr val="accent1"/>
              </a:buClr>
              <a:buSzPct val="92000"/>
              <a:buFont typeface="Wingdings 2" panose="05020102010507070707" pitchFamily="18" charset="2"/>
              <a:buChar char=""/>
            </a:pPr>
            <a:endParaRPr lang="en-US" dirty="0">
              <a:solidFill>
                <a:schemeClr val="tx1">
                  <a:lumMod val="75000"/>
                  <a:lumOff val="25000"/>
                </a:schemeClr>
              </a:solidFill>
            </a:endParaRPr>
          </a:p>
        </p:txBody>
      </p:sp>
      <p:sp>
        <p:nvSpPr>
          <p:cNvPr id="5" name="Slide Number Placeholder 4">
            <a:extLst>
              <a:ext uri="{FF2B5EF4-FFF2-40B4-BE49-F238E27FC236}">
                <a16:creationId xmlns="" xmlns:a16="http://schemas.microsoft.com/office/drawing/2014/main" id="{2687D6E6-D5FA-4C9E-C76D-CC433D92DBC4}"/>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defTabSz="457200">
              <a:spcAft>
                <a:spcPts val="600"/>
              </a:spcAft>
            </a:pPr>
            <a:fld id="{3A98EE3D-8CD1-4C3F-BD1C-C98C9596463C}" type="slidenum">
              <a:rPr lang="en-US" smtClean="0"/>
              <a:pPr defTabSz="457200">
                <a:spcAft>
                  <a:spcPts val="600"/>
                </a:spcAft>
              </a:pPr>
              <a:t>6</a:t>
            </a:fld>
            <a:endParaRPr lang="en-US"/>
          </a:p>
        </p:txBody>
      </p:sp>
    </p:spTree>
    <p:extLst>
      <p:ext uri="{BB962C8B-B14F-4D97-AF65-F5344CB8AC3E}">
        <p14:creationId xmlns:p14="http://schemas.microsoft.com/office/powerpoint/2010/main" val="623822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3">
            <a:extLst>
              <a:ext uri="{FF2B5EF4-FFF2-40B4-BE49-F238E27FC236}">
                <a16:creationId xmlns="" xmlns:a16="http://schemas.microsoft.com/office/drawing/2014/main" id="{AA9E537E-8F1D-CE1E-C433-D916E2A818CB}"/>
              </a:ext>
            </a:extLst>
          </p:cNvPr>
          <p:cNvSpPr txBox="1">
            <a:spLocks/>
          </p:cNvSpPr>
          <p:nvPr/>
        </p:nvSpPr>
        <p:spPr>
          <a:xfrm>
            <a:off x="581192" y="702156"/>
            <a:ext cx="11029616" cy="1188720"/>
          </a:xfrm>
          <a:prstGeom prst="rect">
            <a:avLst/>
          </a:prstGeom>
        </p:spPr>
        <p:txBody>
          <a:bodyPr vert="horz" lIns="91440" tIns="45720" rIns="91440" bIns="45720" rtlCol="0" anchor="b"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b="0" kern="1200" cap="all">
                <a:solidFill>
                  <a:schemeClr val="tx1">
                    <a:lumMod val="75000"/>
                    <a:lumOff val="25000"/>
                  </a:schemeClr>
                </a:solidFill>
                <a:latin typeface="+mj-lt"/>
                <a:ea typeface="+mj-ea"/>
                <a:cs typeface="+mj-cs"/>
              </a:rPr>
              <a:t>Methodology (Cont.)</a:t>
            </a:r>
            <a:endParaRPr lang="en-US" b="0" kern="1200" cap="all" dirty="0">
              <a:solidFill>
                <a:schemeClr val="tx1">
                  <a:lumMod val="75000"/>
                  <a:lumOff val="25000"/>
                </a:schemeClr>
              </a:solidFill>
              <a:latin typeface="+mj-lt"/>
              <a:ea typeface="+mj-ea"/>
              <a:cs typeface="+mj-cs"/>
            </a:endParaRPr>
          </a:p>
        </p:txBody>
      </p:sp>
      <p:sp>
        <p:nvSpPr>
          <p:cNvPr id="5" name="Slide Number Placeholder 4">
            <a:extLst>
              <a:ext uri="{FF2B5EF4-FFF2-40B4-BE49-F238E27FC236}">
                <a16:creationId xmlns="" xmlns:a16="http://schemas.microsoft.com/office/drawing/2014/main" id="{2687D6E6-D5FA-4C9E-C76D-CC433D92DBC4}"/>
              </a:ext>
            </a:extLst>
          </p:cNvPr>
          <p:cNvSpPr>
            <a:spLocks/>
          </p:cNvSpPr>
          <p:nvPr/>
        </p:nvSpPr>
        <p:spPr>
          <a:xfrm>
            <a:off x="9135121" y="5898352"/>
            <a:ext cx="742246" cy="257492"/>
          </a:xfrm>
          <a:prstGeom prst="rect">
            <a:avLst/>
          </a:prstGeom>
        </p:spPr>
        <p:txBody>
          <a:bodyPr/>
          <a:lstStyle/>
          <a:p>
            <a:pPr defTabSz="640080">
              <a:spcAft>
                <a:spcPts val="600"/>
              </a:spcAft>
            </a:pPr>
            <a:fld id="{3A98EE3D-8CD1-4C3F-BD1C-C98C9596463C}" type="slidenum">
              <a:rPr lang="en-US" sz="1260" kern="1200" smtClean="0">
                <a:solidFill>
                  <a:schemeClr val="tx1"/>
                </a:solidFill>
                <a:latin typeface="Arial" panose="020B0604020202020204" pitchFamily="34" charset="0"/>
                <a:ea typeface="+mn-ea"/>
                <a:cs typeface="Arial" panose="020B0604020202020204" pitchFamily="34" charset="0"/>
              </a:rPr>
              <a:pPr defTabSz="640080">
                <a:spcAft>
                  <a:spcPts val="600"/>
                </a:spcAft>
              </a:pPr>
              <a:t>7</a:t>
            </a:fld>
            <a:endParaRPr lang="en-US">
              <a:latin typeface="Arial" panose="020B0604020202020204" pitchFamily="34" charset="0"/>
              <a:cs typeface="Arial" panose="020B0604020202020204" pitchFamily="34" charset="0"/>
            </a:endParaRPr>
          </a:p>
        </p:txBody>
      </p:sp>
      <p:sp>
        <p:nvSpPr>
          <p:cNvPr id="9" name="TextBox 8">
            <a:extLst>
              <a:ext uri="{FF2B5EF4-FFF2-40B4-BE49-F238E27FC236}">
                <a16:creationId xmlns="" xmlns:a16="http://schemas.microsoft.com/office/drawing/2014/main" id="{B5295F40-8CA0-038A-7EDC-4E2C87270AEB}"/>
              </a:ext>
            </a:extLst>
          </p:cNvPr>
          <p:cNvSpPr txBox="1"/>
          <p:nvPr/>
        </p:nvSpPr>
        <p:spPr>
          <a:xfrm>
            <a:off x="1043354" y="2341563"/>
            <a:ext cx="5308644" cy="353943"/>
          </a:xfrm>
          <a:prstGeom prst="rect">
            <a:avLst/>
          </a:prstGeom>
          <a:noFill/>
        </p:spPr>
        <p:txBody>
          <a:bodyPr wrap="square">
            <a:spAutoFit/>
          </a:bodyPr>
          <a:lstStyle/>
          <a:p>
            <a:pPr defTabSz="640080">
              <a:spcAft>
                <a:spcPts val="600"/>
              </a:spcAft>
            </a:pPr>
            <a:r>
              <a:rPr lang="en-GB" sz="1700" b="1" kern="1200" dirty="0">
                <a:solidFill>
                  <a:schemeClr val="tx1"/>
                </a:solidFill>
                <a:latin typeface="Franklin Gothic Book" panose="020B0503020102020204" pitchFamily="34" charset="0"/>
              </a:rPr>
              <a:t>Hierarchical Temporal Memory</a:t>
            </a:r>
            <a:r>
              <a:rPr lang="en-US" sz="1700" b="1" kern="1200" dirty="0">
                <a:solidFill>
                  <a:schemeClr val="tx1"/>
                </a:solidFill>
                <a:latin typeface="Franklin Gothic Book" panose="020B0503020102020204" pitchFamily="34" charset="0"/>
                <a:ea typeface="SimSun" panose="02010600030101010101" pitchFamily="2" charset="-122"/>
              </a:rPr>
              <a:t> </a:t>
            </a:r>
            <a:r>
              <a:rPr lang="en-GB" sz="1700" b="1" kern="1200" dirty="0">
                <a:solidFill>
                  <a:schemeClr val="tx1"/>
                </a:solidFill>
                <a:latin typeface="Franklin Gothic Book" panose="020B0503020102020204" pitchFamily="34" charset="0"/>
              </a:rPr>
              <a:t>(HTM)</a:t>
            </a:r>
            <a:endParaRPr lang="en-US" sz="1700" b="1" dirty="0">
              <a:latin typeface="Franklin Gothic Book" panose="020B0503020102020204" pitchFamily="34" charset="0"/>
            </a:endParaRPr>
          </a:p>
        </p:txBody>
      </p:sp>
      <p:sp>
        <p:nvSpPr>
          <p:cNvPr id="11" name="TextBox 10">
            <a:extLst>
              <a:ext uri="{FF2B5EF4-FFF2-40B4-BE49-F238E27FC236}">
                <a16:creationId xmlns="" xmlns:a16="http://schemas.microsoft.com/office/drawing/2014/main" id="{22AE1F48-CDD7-4A84-D2A9-A0E6FE21100D}"/>
              </a:ext>
            </a:extLst>
          </p:cNvPr>
          <p:cNvSpPr txBox="1"/>
          <p:nvPr/>
        </p:nvSpPr>
        <p:spPr>
          <a:xfrm>
            <a:off x="867507" y="2918044"/>
            <a:ext cx="6586891" cy="3016210"/>
          </a:xfrm>
          <a:prstGeom prst="rect">
            <a:avLst/>
          </a:prstGeom>
          <a:noFill/>
        </p:spPr>
        <p:txBody>
          <a:bodyPr wrap="square">
            <a:spAutoFit/>
          </a:bodyPr>
          <a:lstStyle/>
          <a:p>
            <a:pPr marL="200025" indent="-200025" defTabSz="640080">
              <a:spcAft>
                <a:spcPts val="600"/>
              </a:spcAft>
              <a:buFont typeface="Arial" panose="020B0604020202020204" pitchFamily="34" charset="0"/>
              <a:buChar char="•"/>
            </a:pPr>
            <a:r>
              <a:rPr lang="en-US" sz="1700" kern="1200" dirty="0">
                <a:solidFill>
                  <a:schemeClr val="tx1"/>
                </a:solidFill>
                <a:latin typeface="Franklin Gothic Book (Body)"/>
                <a:ea typeface="SimSun" panose="02010600030101010101" pitchFamily="2" charset="-122"/>
              </a:rPr>
              <a:t>Machine learning algorithm based on the core principles of the Thousand Brains Theory.</a:t>
            </a:r>
          </a:p>
          <a:p>
            <a:pPr marL="200025" indent="-200025" defTabSz="640080">
              <a:spcAft>
                <a:spcPts val="600"/>
              </a:spcAft>
              <a:buFont typeface="Arial" panose="020B0604020202020204" pitchFamily="34" charset="0"/>
              <a:buChar char="•"/>
            </a:pPr>
            <a:r>
              <a:rPr lang="en-US" sz="1700" kern="1200" dirty="0">
                <a:solidFill>
                  <a:schemeClr val="tx1"/>
                </a:solidFill>
                <a:latin typeface="Franklin Gothic Book (Body)"/>
                <a:ea typeface="SimSun" panose="02010600030101010101" pitchFamily="2" charset="-122"/>
              </a:rPr>
              <a:t>Takes inspiration from neocortex of human brain.</a:t>
            </a:r>
          </a:p>
          <a:p>
            <a:pPr marL="200025" indent="-200025" defTabSz="640080">
              <a:spcAft>
                <a:spcPts val="600"/>
              </a:spcAft>
              <a:buFont typeface="Arial" panose="020B0604020202020204" pitchFamily="34" charset="0"/>
              <a:buChar char="•"/>
            </a:pPr>
            <a:r>
              <a:rPr lang="en-US" sz="1700" kern="1200" dirty="0">
                <a:solidFill>
                  <a:schemeClr val="tx1"/>
                </a:solidFill>
                <a:latin typeface="Franklin Gothic Book (Body)"/>
                <a:ea typeface="SimSun" panose="02010600030101010101" pitchFamily="2" charset="-122"/>
              </a:rPr>
              <a:t>Hierarchical Temporal Memory Cortical Learning Algorithm (HTM CLA): Tries to simulate the way neocortex processes information in human brain. </a:t>
            </a:r>
          </a:p>
          <a:p>
            <a:pPr marL="200025" indent="-200025" defTabSz="640080">
              <a:spcAft>
                <a:spcPts val="600"/>
              </a:spcAft>
              <a:buFont typeface="Arial" panose="020B0604020202020204" pitchFamily="34" charset="0"/>
              <a:buChar char="•"/>
            </a:pPr>
            <a:r>
              <a:rPr lang="en-US" sz="1700" kern="1200" dirty="0">
                <a:solidFill>
                  <a:schemeClr val="tx1"/>
                </a:solidFill>
                <a:latin typeface="Franklin Gothic Book (Body)"/>
                <a:ea typeface="SimSun" panose="02010600030101010101" pitchFamily="2" charset="-122"/>
              </a:rPr>
              <a:t>Can be used process information, recognize and identify patterns and make future predictions based on past learning.</a:t>
            </a:r>
          </a:p>
          <a:p>
            <a:pPr marL="200025" indent="-200025" defTabSz="640080">
              <a:spcAft>
                <a:spcPts val="600"/>
              </a:spcAft>
              <a:buFont typeface="Arial" panose="020B0604020202020204" pitchFamily="34" charset="0"/>
              <a:buChar char="•"/>
            </a:pPr>
            <a:r>
              <a:rPr lang="en-US" sz="1700" kern="1200" dirty="0">
                <a:solidFill>
                  <a:schemeClr val="tx1"/>
                </a:solidFill>
                <a:latin typeface="Franklin Gothic Book (Body)"/>
                <a:ea typeface="SimSun" panose="02010600030101010101" pitchFamily="2" charset="-122"/>
              </a:rPr>
              <a:t>Promising approach for anomaly detection and prediction in a variety of applications in sectors, such as healthcare, finance, etc.</a:t>
            </a:r>
            <a:endParaRPr lang="x-none" sz="1700" dirty="0">
              <a:latin typeface="Franklin Gothic Book (Body)"/>
            </a:endParaRPr>
          </a:p>
        </p:txBody>
      </p:sp>
      <p:pic>
        <p:nvPicPr>
          <p:cNvPr id="12" name="Image2">
            <a:extLst>
              <a:ext uri="{FF2B5EF4-FFF2-40B4-BE49-F238E27FC236}">
                <a16:creationId xmlns="" xmlns:a16="http://schemas.microsoft.com/office/drawing/2014/main" id="{73EA4231-A7DA-22AA-589E-595ACC58910B}"/>
              </a:ext>
            </a:extLst>
          </p:cNvPr>
          <p:cNvPicPr>
            <a:picLocks noChangeAspect="1"/>
          </p:cNvPicPr>
          <p:nvPr/>
        </p:nvPicPr>
        <p:blipFill>
          <a:blip r:embed="rId2"/>
          <a:stretch>
            <a:fillRect/>
          </a:stretch>
        </p:blipFill>
        <p:spPr bwMode="auto">
          <a:xfrm>
            <a:off x="7454399" y="3554666"/>
            <a:ext cx="3704505" cy="679895"/>
          </a:xfrm>
          <a:prstGeom prst="rect">
            <a:avLst/>
          </a:prstGeom>
        </p:spPr>
      </p:pic>
    </p:spTree>
    <p:extLst>
      <p:ext uri="{BB962C8B-B14F-4D97-AF65-F5344CB8AC3E}">
        <p14:creationId xmlns:p14="http://schemas.microsoft.com/office/powerpoint/2010/main" val="28567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2687D6E6-D5FA-4C9E-C76D-CC433D92DBC4}"/>
              </a:ext>
            </a:extLst>
          </p:cNvPr>
          <p:cNvSpPr>
            <a:spLocks noGrp="1"/>
          </p:cNvSpPr>
          <p:nvPr>
            <p:ph type="sldNum" sz="quarter" idx="12"/>
          </p:nvPr>
        </p:nvSpPr>
        <p:spPr/>
        <p:txBody>
          <a:bodyPr/>
          <a:lstStyle/>
          <a:p>
            <a:fld id="{3A98EE3D-8CD1-4C3F-BD1C-C98C9596463C}" type="slidenum">
              <a:rPr lang="en-US" smtClean="0">
                <a:latin typeface="Arial" panose="020B0604020202020204" pitchFamily="34" charset="0"/>
                <a:cs typeface="Arial" panose="020B0604020202020204" pitchFamily="34" charset="0"/>
              </a:rPr>
              <a:t>8</a:t>
            </a:fld>
            <a:endParaRPr lang="en-US" dirty="0">
              <a:latin typeface="Arial" panose="020B0604020202020204" pitchFamily="34" charset="0"/>
              <a:cs typeface="Arial" panose="020B0604020202020204" pitchFamily="34" charset="0"/>
            </a:endParaRPr>
          </a:p>
        </p:txBody>
      </p:sp>
      <p:sp>
        <p:nvSpPr>
          <p:cNvPr id="7" name="Title 3">
            <a:extLst>
              <a:ext uri="{FF2B5EF4-FFF2-40B4-BE49-F238E27FC236}">
                <a16:creationId xmlns="" xmlns:a16="http://schemas.microsoft.com/office/drawing/2014/main" id="{AA9E537E-8F1D-CE1E-C433-D916E2A818CB}"/>
              </a:ext>
            </a:extLst>
          </p:cNvPr>
          <p:cNvSpPr txBox="1">
            <a:spLocks/>
          </p:cNvSpPr>
          <p:nvPr/>
        </p:nvSpPr>
        <p:spPr>
          <a:xfrm>
            <a:off x="355052" y="525174"/>
            <a:ext cx="11384664" cy="585871"/>
          </a:xfrm>
          <a:prstGeom prst="rect">
            <a:avLst/>
          </a:prstGeom>
        </p:spPr>
        <p:txBody>
          <a:bodyPr vert="horz" lIns="91440" tIns="45720" rIns="91440" bIns="45720" rtlCol="0" anchor="ctr"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ts val="3700"/>
              </a:lnSpc>
            </a:pPr>
            <a:r>
              <a:rPr lang="en-US" dirty="0"/>
              <a:t>Methodology (Cont.)</a:t>
            </a:r>
          </a:p>
        </p:txBody>
      </p:sp>
      <p:sp>
        <p:nvSpPr>
          <p:cNvPr id="6" name="TextBox 5">
            <a:extLst>
              <a:ext uri="{FF2B5EF4-FFF2-40B4-BE49-F238E27FC236}">
                <a16:creationId xmlns="" xmlns:a16="http://schemas.microsoft.com/office/drawing/2014/main" id="{7CAEE917-6213-887E-9179-322B3B4AF610}"/>
              </a:ext>
            </a:extLst>
          </p:cNvPr>
          <p:cNvSpPr txBox="1"/>
          <p:nvPr/>
        </p:nvSpPr>
        <p:spPr>
          <a:xfrm>
            <a:off x="961292" y="1438980"/>
            <a:ext cx="6096000" cy="353943"/>
          </a:xfrm>
          <a:prstGeom prst="rect">
            <a:avLst/>
          </a:prstGeom>
          <a:noFill/>
        </p:spPr>
        <p:txBody>
          <a:bodyPr wrap="square">
            <a:spAutoFit/>
          </a:bodyPr>
          <a:lstStyle/>
          <a:p>
            <a:r>
              <a:rPr lang="en-GB" sz="1700" b="1" dirty="0"/>
              <a:t>Multisequence learning</a:t>
            </a:r>
            <a:endParaRPr lang="en-US" sz="1700" b="1" dirty="0"/>
          </a:p>
        </p:txBody>
      </p:sp>
      <p:sp>
        <p:nvSpPr>
          <p:cNvPr id="9" name="TextBox 8">
            <a:extLst>
              <a:ext uri="{FF2B5EF4-FFF2-40B4-BE49-F238E27FC236}">
                <a16:creationId xmlns="" xmlns:a16="http://schemas.microsoft.com/office/drawing/2014/main" id="{B0D6000C-1BE1-5094-4B79-7AC70B79C8F8}"/>
              </a:ext>
            </a:extLst>
          </p:cNvPr>
          <p:cNvSpPr txBox="1"/>
          <p:nvPr/>
        </p:nvSpPr>
        <p:spPr>
          <a:xfrm>
            <a:off x="961292" y="2274838"/>
            <a:ext cx="9015046" cy="1923604"/>
          </a:xfrm>
          <a:prstGeom prst="rect">
            <a:avLst/>
          </a:prstGeom>
          <a:noFill/>
        </p:spPr>
        <p:txBody>
          <a:bodyPr wrap="square">
            <a:spAutoFit/>
          </a:bodyPr>
          <a:lstStyle/>
          <a:p>
            <a:pPr marL="342900" indent="-342900" algn="l">
              <a:buFont typeface="Arial" panose="020B0604020202020204" pitchFamily="34" charset="0"/>
              <a:buChar char="•"/>
            </a:pPr>
            <a:r>
              <a:rPr lang="en-GB" sz="1700" dirty="0" err="1">
                <a:latin typeface="Franklin Gothic Book (Body)"/>
                <a:cs typeface="Times New Roman" panose="02020603050405020304" pitchFamily="18" charset="0"/>
              </a:rPr>
              <a:t>Htm</a:t>
            </a:r>
            <a:r>
              <a:rPr lang="en-GB" sz="1700" dirty="0">
                <a:latin typeface="Franklin Gothic Book (Body)"/>
                <a:cs typeface="Times New Roman" panose="02020603050405020304" pitchFamily="18" charset="0"/>
              </a:rPr>
              <a:t> </a:t>
            </a:r>
            <a:r>
              <a:rPr lang="en-GB" sz="1700" dirty="0" smtClean="0">
                <a:latin typeface="Franklin Gothic Book (Body)"/>
                <a:cs typeface="Times New Roman" panose="02020603050405020304" pitchFamily="18" charset="0"/>
              </a:rPr>
              <a:t>class </a:t>
            </a:r>
            <a:r>
              <a:rPr lang="en-GB" sz="1700" dirty="0">
                <a:latin typeface="Franklin Gothic Book (Body)"/>
                <a:cs typeface="Times New Roman" panose="02020603050405020304" pitchFamily="18" charset="0"/>
              </a:rPr>
              <a:t>is good is finding patterns in data</a:t>
            </a:r>
          </a:p>
          <a:p>
            <a:pPr marL="342900" indent="-342900" algn="l">
              <a:buFont typeface="Arial" panose="020B0604020202020204" pitchFamily="34" charset="0"/>
              <a:buChar char="•"/>
            </a:pPr>
            <a:r>
              <a:rPr lang="en-GB" sz="1700" dirty="0">
                <a:latin typeface="Franklin Gothic Book (Body)"/>
                <a:cs typeface="Times New Roman" panose="02020603050405020304" pitchFamily="18" charset="0"/>
              </a:rPr>
              <a:t>We are using neocortex </a:t>
            </a:r>
            <a:r>
              <a:rPr lang="en-GB" sz="1700" dirty="0" err="1">
                <a:latin typeface="Franklin Gothic Book (Body)"/>
                <a:cs typeface="Times New Roman" panose="02020603050405020304" pitchFamily="18" charset="0"/>
              </a:rPr>
              <a:t>api</a:t>
            </a:r>
            <a:r>
              <a:rPr lang="en-GB" sz="1700" dirty="0">
                <a:latin typeface="Franklin Gothic Book (Body)"/>
                <a:cs typeface="Times New Roman" panose="02020603050405020304" pitchFamily="18" charset="0"/>
              </a:rPr>
              <a:t>, specifically multisequence class, which is based on </a:t>
            </a:r>
            <a:r>
              <a:rPr lang="en-GB" sz="1700" dirty="0" err="1">
                <a:latin typeface="Franklin Gothic Book (Body)"/>
                <a:cs typeface="Times New Roman" panose="02020603050405020304" pitchFamily="18" charset="0"/>
              </a:rPr>
              <a:t>htm</a:t>
            </a:r>
            <a:r>
              <a:rPr lang="en-GB" sz="1700" dirty="0">
                <a:latin typeface="Franklin Gothic Book (Body)"/>
                <a:cs typeface="Times New Roman" panose="02020603050405020304" pitchFamily="18" charset="0"/>
              </a:rPr>
              <a:t> </a:t>
            </a:r>
            <a:r>
              <a:rPr lang="en-GB" sz="1700" dirty="0" smtClean="0">
                <a:latin typeface="Franklin Gothic Book (Body)"/>
                <a:cs typeface="Times New Roman" panose="02020603050405020304" pitchFamily="18" charset="0"/>
              </a:rPr>
              <a:t>class.</a:t>
            </a:r>
            <a:endParaRPr lang="en-GB" sz="1700" dirty="0">
              <a:latin typeface="Franklin Gothic Book (Body)"/>
              <a:cs typeface="Times New Roman" panose="02020603050405020304" pitchFamily="18" charset="0"/>
            </a:endParaRPr>
          </a:p>
          <a:p>
            <a:pPr marL="342900" indent="-342900" algn="l">
              <a:buFont typeface="Arial" panose="020B0604020202020204" pitchFamily="34" charset="0"/>
              <a:buChar char="•"/>
            </a:pPr>
            <a:r>
              <a:rPr lang="en-GB" sz="1700" dirty="0">
                <a:latin typeface="Franklin Gothic Book (Body)"/>
                <a:cs typeface="Times New Roman" panose="02020603050405020304" pitchFamily="18" charset="0"/>
              </a:rPr>
              <a:t>Multiple number of sequences can be trained with different datatypes. </a:t>
            </a:r>
          </a:p>
          <a:p>
            <a:pPr marL="342900" indent="-342900" algn="l">
              <a:buFont typeface="Arial" panose="020B0604020202020204" pitchFamily="34" charset="0"/>
              <a:buChar char="•"/>
            </a:pPr>
            <a:r>
              <a:rPr lang="en-GB" sz="1700" dirty="0">
                <a:latin typeface="Franklin Gothic Book (Body)"/>
                <a:cs typeface="Times New Roman" panose="02020603050405020304" pitchFamily="18" charset="0"/>
              </a:rPr>
              <a:t>We are going to use simple numerical integer sequences.</a:t>
            </a:r>
          </a:p>
          <a:p>
            <a:pPr marL="342900" indent="-342900" algn="l">
              <a:buFont typeface="Arial" panose="020B0604020202020204" pitchFamily="34" charset="0"/>
              <a:buChar char="•"/>
            </a:pPr>
            <a:r>
              <a:rPr lang="en-GB" sz="1700" dirty="0">
                <a:latin typeface="Franklin Gothic Book (Body)"/>
                <a:cs typeface="Times New Roman" panose="02020603050405020304" pitchFamily="18" charset="0"/>
              </a:rPr>
              <a:t>We have to tune hyper-parameters, like encoder and </a:t>
            </a:r>
            <a:r>
              <a:rPr lang="en-GB" sz="1700" dirty="0" err="1">
                <a:latin typeface="Franklin Gothic Book (Body)"/>
                <a:cs typeface="Times New Roman" panose="02020603050405020304" pitchFamily="18" charset="0"/>
              </a:rPr>
              <a:t>htmconfig</a:t>
            </a:r>
            <a:r>
              <a:rPr lang="en-GB" sz="1700" dirty="0">
                <a:latin typeface="Franklin Gothic Book (Body)"/>
                <a:cs typeface="Times New Roman" panose="02020603050405020304" pitchFamily="18" charset="0"/>
              </a:rPr>
              <a:t>, which facilitates training this type of data.</a:t>
            </a:r>
          </a:p>
        </p:txBody>
      </p:sp>
    </p:spTree>
    <p:extLst>
      <p:ext uri="{BB962C8B-B14F-4D97-AF65-F5344CB8AC3E}">
        <p14:creationId xmlns:p14="http://schemas.microsoft.com/office/powerpoint/2010/main" val="2063126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2687D6E6-D5FA-4C9E-C76D-CC433D92DBC4}"/>
              </a:ext>
            </a:extLst>
          </p:cNvPr>
          <p:cNvSpPr>
            <a:spLocks noGrp="1"/>
          </p:cNvSpPr>
          <p:nvPr>
            <p:ph type="sldNum" sz="quarter" idx="12"/>
          </p:nvPr>
        </p:nvSpPr>
        <p:spPr/>
        <p:txBody>
          <a:bodyPr/>
          <a:lstStyle/>
          <a:p>
            <a:fld id="{3A98EE3D-8CD1-4C3F-BD1C-C98C9596463C}" type="slidenum">
              <a:rPr lang="en-US" smtClean="0">
                <a:latin typeface="Arial" panose="020B0604020202020204" pitchFamily="34" charset="0"/>
                <a:cs typeface="Arial" panose="020B0604020202020204" pitchFamily="34" charset="0"/>
              </a:rPr>
              <a:t>9</a:t>
            </a:fld>
            <a:endParaRPr lang="en-US" dirty="0">
              <a:latin typeface="Arial" panose="020B0604020202020204" pitchFamily="34" charset="0"/>
              <a:cs typeface="Arial" panose="020B0604020202020204" pitchFamily="34" charset="0"/>
            </a:endParaRPr>
          </a:p>
        </p:txBody>
      </p:sp>
      <p:sp>
        <p:nvSpPr>
          <p:cNvPr id="7" name="Title 3">
            <a:extLst>
              <a:ext uri="{FF2B5EF4-FFF2-40B4-BE49-F238E27FC236}">
                <a16:creationId xmlns="" xmlns:a16="http://schemas.microsoft.com/office/drawing/2014/main" id="{AA9E537E-8F1D-CE1E-C433-D916E2A818CB}"/>
              </a:ext>
            </a:extLst>
          </p:cNvPr>
          <p:cNvSpPr txBox="1">
            <a:spLocks/>
          </p:cNvSpPr>
          <p:nvPr/>
        </p:nvSpPr>
        <p:spPr>
          <a:xfrm>
            <a:off x="355052" y="525174"/>
            <a:ext cx="11384664" cy="585871"/>
          </a:xfrm>
          <a:prstGeom prst="rect">
            <a:avLst/>
          </a:prstGeom>
        </p:spPr>
        <p:txBody>
          <a:bodyPr vert="horz" lIns="91440" tIns="45720" rIns="91440" bIns="45720" rtlCol="0" anchor="ctr"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ts val="3700"/>
              </a:lnSpc>
            </a:pPr>
            <a:r>
              <a:rPr lang="en-US"/>
              <a:t>Methodology (Cont.)</a:t>
            </a:r>
            <a:endParaRPr lang="en-US" dirty="0"/>
          </a:p>
        </p:txBody>
      </p:sp>
      <p:sp>
        <p:nvSpPr>
          <p:cNvPr id="6" name="TextBox 5">
            <a:extLst>
              <a:ext uri="{FF2B5EF4-FFF2-40B4-BE49-F238E27FC236}">
                <a16:creationId xmlns="" xmlns:a16="http://schemas.microsoft.com/office/drawing/2014/main" id="{CA28CC40-A6A1-2352-DEF5-102D5B51ECB6}"/>
              </a:ext>
            </a:extLst>
          </p:cNvPr>
          <p:cNvSpPr txBox="1"/>
          <p:nvPr/>
        </p:nvSpPr>
        <p:spPr>
          <a:xfrm>
            <a:off x="445477" y="1403811"/>
            <a:ext cx="6389077" cy="369332"/>
          </a:xfrm>
          <a:prstGeom prst="rect">
            <a:avLst/>
          </a:prstGeom>
          <a:noFill/>
        </p:spPr>
        <p:txBody>
          <a:bodyPr wrap="square">
            <a:spAutoFit/>
          </a:bodyPr>
          <a:lstStyle/>
          <a:p>
            <a:r>
              <a:rPr lang="en-GB" b="1" dirty="0"/>
              <a:t>Anomaly detection</a:t>
            </a:r>
            <a:endParaRPr lang="en-US" b="1" dirty="0"/>
          </a:p>
        </p:txBody>
      </p:sp>
      <p:sp>
        <p:nvSpPr>
          <p:cNvPr id="9" name="TextBox 8">
            <a:extLst>
              <a:ext uri="{FF2B5EF4-FFF2-40B4-BE49-F238E27FC236}">
                <a16:creationId xmlns="" xmlns:a16="http://schemas.microsoft.com/office/drawing/2014/main" id="{0DC75764-2918-EC3E-C0B8-2C0C1F1C5EBE}"/>
              </a:ext>
            </a:extLst>
          </p:cNvPr>
          <p:cNvSpPr txBox="1"/>
          <p:nvPr/>
        </p:nvSpPr>
        <p:spPr>
          <a:xfrm>
            <a:off x="355051" y="2352544"/>
            <a:ext cx="9972979" cy="877163"/>
          </a:xfrm>
          <a:prstGeom prst="rect">
            <a:avLst/>
          </a:prstGeom>
          <a:noFill/>
        </p:spPr>
        <p:txBody>
          <a:bodyPr wrap="square">
            <a:spAutoFit/>
          </a:bodyPr>
          <a:lstStyle/>
          <a:p>
            <a:pPr marL="285750" indent="-285750" algn="l">
              <a:buFont typeface="Arial" panose="020B0604020202020204" pitchFamily="34" charset="0"/>
              <a:buChar char="•"/>
            </a:pPr>
            <a:r>
              <a:rPr lang="en-GB" sz="1700" dirty="0">
                <a:latin typeface="Franklin Gothic Book (Body)"/>
                <a:cs typeface="Times New Roman" panose="02020603050405020304" pitchFamily="18" charset="0"/>
              </a:rPr>
              <a:t>We have taken an artificially generated dataset and trained our </a:t>
            </a:r>
            <a:r>
              <a:rPr lang="en-GB" sz="1700" dirty="0" err="1">
                <a:latin typeface="Franklin Gothic Book (Body)"/>
                <a:cs typeface="Times New Roman" panose="02020603050405020304" pitchFamily="18" charset="0"/>
              </a:rPr>
              <a:t>htm</a:t>
            </a:r>
            <a:r>
              <a:rPr lang="en-GB" sz="1700" dirty="0">
                <a:latin typeface="Franklin Gothic Book (Body)"/>
                <a:cs typeface="Times New Roman" panose="02020603050405020304" pitchFamily="18" charset="0"/>
              </a:rPr>
              <a:t> engine.</a:t>
            </a:r>
          </a:p>
          <a:p>
            <a:pPr marL="285750" indent="-285750" algn="l">
              <a:buFont typeface="Arial" panose="020B0604020202020204" pitchFamily="34" charset="0"/>
              <a:buChar char="•"/>
            </a:pPr>
            <a:r>
              <a:rPr lang="en-GB" sz="1700" dirty="0">
                <a:latin typeface="Franklin Gothic Book (Body)"/>
                <a:cs typeface="Times New Roman" panose="02020603050405020304" pitchFamily="18" charset="0"/>
              </a:rPr>
              <a:t>We have added anomalies to random indexes in our prediction data.</a:t>
            </a:r>
          </a:p>
          <a:p>
            <a:pPr marL="285750" indent="-285750" algn="l">
              <a:buFont typeface="Arial" panose="020B0604020202020204" pitchFamily="34" charset="0"/>
              <a:buChar char="•"/>
            </a:pPr>
            <a:r>
              <a:rPr lang="en-GB" sz="1700" dirty="0">
                <a:latin typeface="Franklin Gothic Book (Body)"/>
                <a:cs typeface="Times New Roman" panose="02020603050405020304" pitchFamily="18" charset="0"/>
              </a:rPr>
              <a:t>We will try to train our data and detect anomalies using trained </a:t>
            </a:r>
            <a:r>
              <a:rPr lang="en-GB" sz="1700" dirty="0" err="1">
                <a:latin typeface="Franklin Gothic Book (Body)"/>
                <a:cs typeface="Times New Roman" panose="02020603050405020304" pitchFamily="18" charset="0"/>
              </a:rPr>
              <a:t>htm</a:t>
            </a:r>
            <a:r>
              <a:rPr lang="en-GB" sz="1700" dirty="0">
                <a:latin typeface="Franklin Gothic Book (Body)"/>
                <a:cs typeface="Times New Roman" panose="02020603050405020304" pitchFamily="18" charset="0"/>
              </a:rPr>
              <a:t> engine.</a:t>
            </a:r>
            <a:endParaRPr lang="x-none" sz="1700" dirty="0">
              <a:latin typeface="Franklin Gothic Book (Body)"/>
              <a:cs typeface="Times New Roman" panose="02020603050405020304" pitchFamily="18" charset="0"/>
            </a:endParaRPr>
          </a:p>
        </p:txBody>
      </p:sp>
    </p:spTree>
    <p:extLst>
      <p:ext uri="{BB962C8B-B14F-4D97-AF65-F5344CB8AC3E}">
        <p14:creationId xmlns:p14="http://schemas.microsoft.com/office/powerpoint/2010/main" val="1901889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9AAD05-9A8B-C30B-B4D9-99E3A92A99B5}"/>
              </a:ext>
            </a:extLst>
          </p:cNvPr>
          <p:cNvSpPr>
            <a:spLocks noGrp="1"/>
          </p:cNvSpPr>
          <p:nvPr>
            <p:ph type="title"/>
          </p:nvPr>
        </p:nvSpPr>
        <p:spPr>
          <a:xfrm>
            <a:off x="674976" y="702156"/>
            <a:ext cx="10935832" cy="630482"/>
          </a:xfrm>
        </p:spPr>
        <p:txBody>
          <a:bodyPr/>
          <a:lstStyle/>
          <a:p>
            <a:r>
              <a:rPr lang="en-US" dirty="0"/>
              <a:t>Execution of Project</a:t>
            </a:r>
          </a:p>
        </p:txBody>
      </p:sp>
      <p:sp>
        <p:nvSpPr>
          <p:cNvPr id="3" name="Content Placeholder 2">
            <a:extLst>
              <a:ext uri="{FF2B5EF4-FFF2-40B4-BE49-F238E27FC236}">
                <a16:creationId xmlns="" xmlns:a16="http://schemas.microsoft.com/office/drawing/2014/main" id="{7A29D8BD-886F-3049-F4A7-87F6F95E216B}"/>
              </a:ext>
            </a:extLst>
          </p:cNvPr>
          <p:cNvSpPr>
            <a:spLocks noGrp="1"/>
          </p:cNvSpPr>
          <p:nvPr>
            <p:ph idx="1"/>
          </p:nvPr>
        </p:nvSpPr>
        <p:spPr>
          <a:xfrm>
            <a:off x="674975" y="1852985"/>
            <a:ext cx="11029615" cy="3634486"/>
          </a:xfrm>
        </p:spPr>
        <p:txBody>
          <a:bodyPr>
            <a:normAutofit lnSpcReduction="10000"/>
          </a:bodyPr>
          <a:lstStyle/>
          <a:p>
            <a:pPr marL="0" indent="0">
              <a:buNone/>
            </a:pPr>
            <a:r>
              <a:rPr lang="en-US" b="0" i="0" dirty="0">
                <a:solidFill>
                  <a:srgbClr val="1F2328"/>
                </a:solidFill>
                <a:effectLst/>
                <a:latin typeface="-apple-system"/>
              </a:rPr>
              <a:t>Firstly, we will read and train the HTM Engine using the data from both our training (learning) and predicting (predictive) folders, which are present as numerical sequences in CSV files in the 'training' and 'predicting' folders inside the project directory. Normally, the values stay within the range of 65 to 75.</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b="0" i="0" dirty="0">
                <a:solidFill>
                  <a:srgbClr val="1F2328"/>
                </a:solidFill>
                <a:effectLst/>
                <a:latin typeface="-apple-system"/>
              </a:rPr>
              <a:t>All values outside of this range are considered anomalies for testing purposes. However, in order to identify anomalies, we have a csv file in the predicting folder. Typically, some of the data in this file does not fall within 65 and 75.</a:t>
            </a:r>
          </a:p>
          <a:p>
            <a:pPr marL="0" indent="0">
              <a:buNone/>
            </a:pPr>
            <a:endParaRPr lang="en-US" b="0" i="0" dirty="0">
              <a:solidFill>
                <a:srgbClr val="1F2328"/>
              </a:solidFill>
              <a:effectLst/>
              <a:latin typeface="-apple-system"/>
            </a:endParaRPr>
          </a:p>
          <a:p>
            <a:pPr marL="0" indent="0">
              <a:buNone/>
            </a:pPr>
            <a:endParaRPr lang="en-US" dirty="0">
              <a:solidFill>
                <a:srgbClr val="1F2328"/>
              </a:solidFill>
              <a:latin typeface="-apple-system"/>
            </a:endParaRPr>
          </a:p>
          <a:p>
            <a:pPr marL="0" indent="0">
              <a:buNone/>
            </a:pPr>
            <a:endParaRPr lang="en-US" dirty="0"/>
          </a:p>
        </p:txBody>
      </p:sp>
      <p:sp>
        <p:nvSpPr>
          <p:cNvPr id="5" name="Slide Number Placeholder 4">
            <a:extLst>
              <a:ext uri="{FF2B5EF4-FFF2-40B4-BE49-F238E27FC236}">
                <a16:creationId xmlns="" xmlns:a16="http://schemas.microsoft.com/office/drawing/2014/main" id="{57203070-D601-457B-9DF7-A4611183F29A}"/>
              </a:ext>
            </a:extLst>
          </p:cNvPr>
          <p:cNvSpPr>
            <a:spLocks noGrp="1"/>
          </p:cNvSpPr>
          <p:nvPr>
            <p:ph type="sldNum" sz="quarter" idx="12"/>
          </p:nvPr>
        </p:nvSpPr>
        <p:spPr/>
        <p:txBody>
          <a:bodyPr/>
          <a:lstStyle/>
          <a:p>
            <a:fld id="{3A98EE3D-8CD1-4C3F-BD1C-C98C9596463C}" type="slidenum">
              <a:rPr lang="en-US" smtClean="0"/>
              <a:t>10</a:t>
            </a:fld>
            <a:endParaRPr lang="en-US" dirty="0"/>
          </a:p>
        </p:txBody>
      </p:sp>
      <p:pic>
        <p:nvPicPr>
          <p:cNvPr id="7" name="Picture 6">
            <a:extLst>
              <a:ext uri="{FF2B5EF4-FFF2-40B4-BE49-F238E27FC236}">
                <a16:creationId xmlns="" xmlns:a16="http://schemas.microsoft.com/office/drawing/2014/main" id="{667A415B-592E-E291-3ED2-A0EF405615FE}"/>
              </a:ext>
            </a:extLst>
          </p:cNvPr>
          <p:cNvPicPr>
            <a:picLocks noChangeAspect="1"/>
          </p:cNvPicPr>
          <p:nvPr/>
        </p:nvPicPr>
        <p:blipFill>
          <a:blip r:embed="rId2"/>
          <a:stretch>
            <a:fillRect/>
          </a:stretch>
        </p:blipFill>
        <p:spPr>
          <a:xfrm>
            <a:off x="674975" y="2488963"/>
            <a:ext cx="5115639" cy="1181265"/>
          </a:xfrm>
          <a:prstGeom prst="rect">
            <a:avLst/>
          </a:prstGeom>
        </p:spPr>
      </p:pic>
      <p:pic>
        <p:nvPicPr>
          <p:cNvPr id="9" name="Picture 8">
            <a:extLst>
              <a:ext uri="{FF2B5EF4-FFF2-40B4-BE49-F238E27FC236}">
                <a16:creationId xmlns="" xmlns:a16="http://schemas.microsoft.com/office/drawing/2014/main" id="{76784176-A071-91E1-C405-67C6D8AF4734}"/>
              </a:ext>
            </a:extLst>
          </p:cNvPr>
          <p:cNvPicPr>
            <a:picLocks noChangeAspect="1"/>
          </p:cNvPicPr>
          <p:nvPr/>
        </p:nvPicPr>
        <p:blipFill>
          <a:blip r:embed="rId3"/>
          <a:stretch>
            <a:fillRect/>
          </a:stretch>
        </p:blipFill>
        <p:spPr>
          <a:xfrm>
            <a:off x="674975" y="4779453"/>
            <a:ext cx="4591691" cy="933580"/>
          </a:xfrm>
          <a:prstGeom prst="rect">
            <a:avLst/>
          </a:prstGeom>
        </p:spPr>
      </p:pic>
    </p:spTree>
    <p:extLst>
      <p:ext uri="{BB962C8B-B14F-4D97-AF65-F5344CB8AC3E}">
        <p14:creationId xmlns:p14="http://schemas.microsoft.com/office/powerpoint/2010/main" val="2668324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9AAD05-9A8B-C30B-B4D9-99E3A92A99B5}"/>
              </a:ext>
            </a:extLst>
          </p:cNvPr>
          <p:cNvSpPr>
            <a:spLocks noGrp="1"/>
          </p:cNvSpPr>
          <p:nvPr>
            <p:ph type="title"/>
          </p:nvPr>
        </p:nvSpPr>
        <p:spPr>
          <a:xfrm>
            <a:off x="674976" y="702156"/>
            <a:ext cx="10935832" cy="630482"/>
          </a:xfrm>
        </p:spPr>
        <p:txBody>
          <a:bodyPr/>
          <a:lstStyle/>
          <a:p>
            <a:r>
              <a:rPr lang="en-US" dirty="0"/>
              <a:t>Execution of Project (Cont.)</a:t>
            </a:r>
          </a:p>
        </p:txBody>
      </p:sp>
      <p:sp>
        <p:nvSpPr>
          <p:cNvPr id="5" name="Slide Number Placeholder 4">
            <a:extLst>
              <a:ext uri="{FF2B5EF4-FFF2-40B4-BE49-F238E27FC236}">
                <a16:creationId xmlns="" xmlns:a16="http://schemas.microsoft.com/office/drawing/2014/main" id="{57203070-D601-457B-9DF7-A4611183F29A}"/>
              </a:ext>
            </a:extLst>
          </p:cNvPr>
          <p:cNvSpPr>
            <a:spLocks noGrp="1"/>
          </p:cNvSpPr>
          <p:nvPr>
            <p:ph type="sldNum" sz="quarter" idx="12"/>
          </p:nvPr>
        </p:nvSpPr>
        <p:spPr/>
        <p:txBody>
          <a:bodyPr/>
          <a:lstStyle/>
          <a:p>
            <a:fld id="{3A98EE3D-8CD1-4C3F-BD1C-C98C9596463C}" type="slidenum">
              <a:rPr lang="en-US" smtClean="0"/>
              <a:t>11</a:t>
            </a:fld>
            <a:endParaRPr lang="en-US" dirty="0"/>
          </a:p>
        </p:txBody>
      </p:sp>
      <p:sp>
        <p:nvSpPr>
          <p:cNvPr id="10" name="TextBox 9">
            <a:extLst>
              <a:ext uri="{FF2B5EF4-FFF2-40B4-BE49-F238E27FC236}">
                <a16:creationId xmlns="" xmlns:a16="http://schemas.microsoft.com/office/drawing/2014/main" id="{3710AD9B-9F24-E8D6-B646-8CCC5F54AE35}"/>
              </a:ext>
            </a:extLst>
          </p:cNvPr>
          <p:cNvSpPr txBox="1"/>
          <p:nvPr/>
        </p:nvSpPr>
        <p:spPr>
          <a:xfrm>
            <a:off x="674976" y="1863969"/>
            <a:ext cx="9883324" cy="1200329"/>
          </a:xfrm>
          <a:prstGeom prst="rect">
            <a:avLst/>
          </a:prstGeom>
          <a:noFill/>
        </p:spPr>
        <p:txBody>
          <a:bodyPr wrap="square">
            <a:spAutoFit/>
          </a:bodyPr>
          <a:lstStyle/>
          <a:p>
            <a:r>
              <a:rPr lang="en-US" b="0" i="0" dirty="0">
                <a:solidFill>
                  <a:srgbClr val="1F2328"/>
                </a:solidFill>
                <a:effectLst/>
                <a:latin typeface="-apple-system"/>
              </a:rPr>
              <a:t>In the beginning, we have the Extract Sequences From Folder method of </a:t>
            </a:r>
            <a:r>
              <a:rPr lang="en-US" b="0" i="0" u="sng" dirty="0">
                <a:effectLst/>
                <a:latin typeface="-apple-system"/>
                <a:hlinkClick r:id="rId2"/>
              </a:rPr>
              <a:t>CsvSequenceFolder</a:t>
            </a:r>
            <a:r>
              <a:rPr lang="en-US" b="0" i="0" dirty="0">
                <a:solidFill>
                  <a:srgbClr val="1F2328"/>
                </a:solidFill>
                <a:effectLst/>
                <a:latin typeface="-apple-system"/>
              </a:rPr>
              <a:t> class to read all the files placed inside a folder.</a:t>
            </a:r>
          </a:p>
          <a:p>
            <a:endParaRPr lang="en-US" dirty="0">
              <a:solidFill>
                <a:srgbClr val="1F2328"/>
              </a:solidFill>
              <a:latin typeface="-apple-system"/>
            </a:endParaRPr>
          </a:p>
          <a:p>
            <a:endParaRPr lang="en-US" dirty="0"/>
          </a:p>
        </p:txBody>
      </p:sp>
      <p:pic>
        <p:nvPicPr>
          <p:cNvPr id="12" name="Picture 11">
            <a:extLst>
              <a:ext uri="{FF2B5EF4-FFF2-40B4-BE49-F238E27FC236}">
                <a16:creationId xmlns="" xmlns:a16="http://schemas.microsoft.com/office/drawing/2014/main" id="{EA568224-3995-93C6-193C-431FC17FA572}"/>
              </a:ext>
            </a:extLst>
          </p:cNvPr>
          <p:cNvPicPr>
            <a:picLocks noChangeAspect="1"/>
          </p:cNvPicPr>
          <p:nvPr/>
        </p:nvPicPr>
        <p:blipFill>
          <a:blip r:embed="rId3"/>
          <a:stretch>
            <a:fillRect/>
          </a:stretch>
        </p:blipFill>
        <p:spPr>
          <a:xfrm>
            <a:off x="1167345" y="2927874"/>
            <a:ext cx="7097115" cy="2200582"/>
          </a:xfrm>
          <a:prstGeom prst="rect">
            <a:avLst/>
          </a:prstGeom>
        </p:spPr>
      </p:pic>
    </p:spTree>
    <p:extLst>
      <p:ext uri="{BB962C8B-B14F-4D97-AF65-F5344CB8AC3E}">
        <p14:creationId xmlns:p14="http://schemas.microsoft.com/office/powerpoint/2010/main" val="260451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9AAD05-9A8B-C30B-B4D9-99E3A92A99B5}"/>
              </a:ext>
            </a:extLst>
          </p:cNvPr>
          <p:cNvSpPr>
            <a:spLocks noGrp="1"/>
          </p:cNvSpPr>
          <p:nvPr>
            <p:ph type="title"/>
          </p:nvPr>
        </p:nvSpPr>
        <p:spPr>
          <a:xfrm>
            <a:off x="674976" y="702156"/>
            <a:ext cx="10935832" cy="630482"/>
          </a:xfrm>
        </p:spPr>
        <p:txBody>
          <a:bodyPr/>
          <a:lstStyle/>
          <a:p>
            <a:r>
              <a:rPr lang="en-US" dirty="0"/>
              <a:t>Execution of Project (Cont.)</a:t>
            </a:r>
          </a:p>
        </p:txBody>
      </p:sp>
      <p:sp>
        <p:nvSpPr>
          <p:cNvPr id="5" name="Slide Number Placeholder 4">
            <a:extLst>
              <a:ext uri="{FF2B5EF4-FFF2-40B4-BE49-F238E27FC236}">
                <a16:creationId xmlns="" xmlns:a16="http://schemas.microsoft.com/office/drawing/2014/main" id="{57203070-D601-457B-9DF7-A4611183F29A}"/>
              </a:ext>
            </a:extLst>
          </p:cNvPr>
          <p:cNvSpPr>
            <a:spLocks noGrp="1"/>
          </p:cNvSpPr>
          <p:nvPr>
            <p:ph type="sldNum" sz="quarter" idx="12"/>
          </p:nvPr>
        </p:nvSpPr>
        <p:spPr/>
        <p:txBody>
          <a:bodyPr/>
          <a:lstStyle/>
          <a:p>
            <a:fld id="{3A98EE3D-8CD1-4C3F-BD1C-C98C9596463C}" type="slidenum">
              <a:rPr lang="en-US" smtClean="0"/>
              <a:t>12</a:t>
            </a:fld>
            <a:endParaRPr lang="en-US" dirty="0"/>
          </a:p>
        </p:txBody>
      </p:sp>
      <p:sp>
        <p:nvSpPr>
          <p:cNvPr id="10" name="TextBox 9">
            <a:extLst>
              <a:ext uri="{FF2B5EF4-FFF2-40B4-BE49-F238E27FC236}">
                <a16:creationId xmlns="" xmlns:a16="http://schemas.microsoft.com/office/drawing/2014/main" id="{3710AD9B-9F24-E8D6-B646-8CCC5F54AE35}"/>
              </a:ext>
            </a:extLst>
          </p:cNvPr>
          <p:cNvSpPr txBox="1"/>
          <p:nvPr/>
        </p:nvSpPr>
        <p:spPr>
          <a:xfrm>
            <a:off x="674976" y="1863969"/>
            <a:ext cx="9883324" cy="1200329"/>
          </a:xfrm>
          <a:prstGeom prst="rect">
            <a:avLst/>
          </a:prstGeom>
          <a:noFill/>
        </p:spPr>
        <p:txBody>
          <a:bodyPr wrap="square">
            <a:spAutoFit/>
          </a:bodyPr>
          <a:lstStyle/>
          <a:p>
            <a:pPr algn="l"/>
            <a:r>
              <a:rPr lang="en-US" b="0" i="0" dirty="0">
                <a:solidFill>
                  <a:srgbClr val="1F2328"/>
                </a:solidFill>
                <a:effectLst/>
                <a:latin typeface="-apple-system"/>
              </a:rPr>
              <a:t>After that, the method ConvertToHTMInput of </a:t>
            </a:r>
            <a:r>
              <a:rPr lang="en-US" b="0" i="0" u="sng" dirty="0">
                <a:solidFill>
                  <a:srgbClr val="1F2328"/>
                </a:solidFill>
                <a:effectLst/>
                <a:latin typeface="-apple-system"/>
                <a:hlinkClick r:id="rId2"/>
              </a:rPr>
              <a:t>CSVToHTMInputConverter</a:t>
            </a:r>
            <a:r>
              <a:rPr lang="en-US" b="0" i="0" dirty="0">
                <a:solidFill>
                  <a:srgbClr val="1F2328"/>
                </a:solidFill>
                <a:effectLst/>
                <a:latin typeface="-apple-system"/>
              </a:rPr>
              <a:t> class is there which converts all the read sequences to a format suitable for HTM training.</a:t>
            </a:r>
          </a:p>
          <a:p>
            <a:endParaRPr lang="en-US" dirty="0">
              <a:solidFill>
                <a:srgbClr val="1F2328"/>
              </a:solidFill>
              <a:latin typeface="-apple-system"/>
            </a:endParaRPr>
          </a:p>
          <a:p>
            <a:endParaRPr lang="en-US" dirty="0"/>
          </a:p>
        </p:txBody>
      </p:sp>
      <p:pic>
        <p:nvPicPr>
          <p:cNvPr id="4" name="Picture 3">
            <a:extLst>
              <a:ext uri="{FF2B5EF4-FFF2-40B4-BE49-F238E27FC236}">
                <a16:creationId xmlns="" xmlns:a16="http://schemas.microsoft.com/office/drawing/2014/main" id="{82A53E7F-D8AA-A16A-A5DE-F74F286522C3}"/>
              </a:ext>
            </a:extLst>
          </p:cNvPr>
          <p:cNvPicPr>
            <a:picLocks noChangeAspect="1"/>
          </p:cNvPicPr>
          <p:nvPr/>
        </p:nvPicPr>
        <p:blipFill>
          <a:blip r:embed="rId3"/>
          <a:stretch>
            <a:fillRect/>
          </a:stretch>
        </p:blipFill>
        <p:spPr>
          <a:xfrm>
            <a:off x="674976" y="2925643"/>
            <a:ext cx="7344800" cy="1905266"/>
          </a:xfrm>
          <a:prstGeom prst="rect">
            <a:avLst/>
          </a:prstGeom>
        </p:spPr>
      </p:pic>
    </p:spTree>
    <p:extLst>
      <p:ext uri="{BB962C8B-B14F-4D97-AF65-F5344CB8AC3E}">
        <p14:creationId xmlns:p14="http://schemas.microsoft.com/office/powerpoint/2010/main" val="2009533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9AAD05-9A8B-C30B-B4D9-99E3A92A99B5}"/>
              </a:ext>
            </a:extLst>
          </p:cNvPr>
          <p:cNvSpPr>
            <a:spLocks noGrp="1"/>
          </p:cNvSpPr>
          <p:nvPr>
            <p:ph type="title"/>
          </p:nvPr>
        </p:nvSpPr>
        <p:spPr>
          <a:xfrm>
            <a:off x="674976" y="702156"/>
            <a:ext cx="10935832" cy="630482"/>
          </a:xfrm>
        </p:spPr>
        <p:txBody>
          <a:bodyPr/>
          <a:lstStyle/>
          <a:p>
            <a:r>
              <a:rPr lang="en-US" dirty="0"/>
              <a:t>Execution of Project (Cont.)</a:t>
            </a:r>
          </a:p>
        </p:txBody>
      </p:sp>
      <p:sp>
        <p:nvSpPr>
          <p:cNvPr id="5" name="Slide Number Placeholder 4">
            <a:extLst>
              <a:ext uri="{FF2B5EF4-FFF2-40B4-BE49-F238E27FC236}">
                <a16:creationId xmlns="" xmlns:a16="http://schemas.microsoft.com/office/drawing/2014/main" id="{57203070-D601-457B-9DF7-A4611183F29A}"/>
              </a:ext>
            </a:extLst>
          </p:cNvPr>
          <p:cNvSpPr>
            <a:spLocks noGrp="1"/>
          </p:cNvSpPr>
          <p:nvPr>
            <p:ph type="sldNum" sz="quarter" idx="12"/>
          </p:nvPr>
        </p:nvSpPr>
        <p:spPr/>
        <p:txBody>
          <a:bodyPr/>
          <a:lstStyle/>
          <a:p>
            <a:fld id="{3A98EE3D-8CD1-4C3F-BD1C-C98C9596463C}" type="slidenum">
              <a:rPr lang="en-US" smtClean="0"/>
              <a:t>13</a:t>
            </a:fld>
            <a:endParaRPr lang="en-US" dirty="0"/>
          </a:p>
        </p:txBody>
      </p:sp>
      <p:sp>
        <p:nvSpPr>
          <p:cNvPr id="10" name="TextBox 9">
            <a:extLst>
              <a:ext uri="{FF2B5EF4-FFF2-40B4-BE49-F238E27FC236}">
                <a16:creationId xmlns="" xmlns:a16="http://schemas.microsoft.com/office/drawing/2014/main" id="{3710AD9B-9F24-E8D6-B646-8CCC5F54AE35}"/>
              </a:ext>
            </a:extLst>
          </p:cNvPr>
          <p:cNvSpPr txBox="1"/>
          <p:nvPr/>
        </p:nvSpPr>
        <p:spPr>
          <a:xfrm>
            <a:off x="792206" y="1875692"/>
            <a:ext cx="9883324" cy="923330"/>
          </a:xfrm>
          <a:prstGeom prst="rect">
            <a:avLst/>
          </a:prstGeom>
          <a:noFill/>
        </p:spPr>
        <p:txBody>
          <a:bodyPr wrap="square">
            <a:spAutoFit/>
          </a:bodyPr>
          <a:lstStyle/>
          <a:p>
            <a:pPr algn="l"/>
            <a:r>
              <a:rPr lang="en-US" b="0" i="0" dirty="0">
                <a:solidFill>
                  <a:srgbClr val="1F2328"/>
                </a:solidFill>
                <a:effectLst/>
                <a:latin typeface="-apple-system"/>
              </a:rPr>
              <a:t>After that, we have ExecuteHTMModelTraining method of </a:t>
            </a:r>
            <a:r>
              <a:rPr lang="en-US" b="0" i="0" u="sng" dirty="0" err="1" smtClean="0">
                <a:effectLst/>
                <a:latin typeface="-apple-system"/>
              </a:rPr>
              <a:t>HTMTrainingService</a:t>
            </a:r>
            <a:r>
              <a:rPr lang="en-US" b="0" i="0" dirty="0">
                <a:solidFill>
                  <a:srgbClr val="1F2328"/>
                </a:solidFill>
                <a:effectLst/>
                <a:latin typeface="-apple-system"/>
              </a:rPr>
              <a:t> class to train our model using the converted sequences.</a:t>
            </a:r>
            <a:endParaRPr lang="en-US" dirty="0">
              <a:solidFill>
                <a:srgbClr val="1F2328"/>
              </a:solidFill>
              <a:latin typeface="-apple-system"/>
            </a:endParaRPr>
          </a:p>
          <a:p>
            <a:endParaRPr lang="en-US" dirty="0"/>
          </a:p>
        </p:txBody>
      </p:sp>
      <p:pic>
        <p:nvPicPr>
          <p:cNvPr id="6" name="Picture 5">
            <a:extLst>
              <a:ext uri="{FF2B5EF4-FFF2-40B4-BE49-F238E27FC236}">
                <a16:creationId xmlns="" xmlns:a16="http://schemas.microsoft.com/office/drawing/2014/main" id="{8B66DA3A-FA51-4603-248A-989A1F71B8D5}"/>
              </a:ext>
            </a:extLst>
          </p:cNvPr>
          <p:cNvPicPr>
            <a:picLocks noChangeAspect="1"/>
          </p:cNvPicPr>
          <p:nvPr/>
        </p:nvPicPr>
        <p:blipFill>
          <a:blip r:embed="rId2"/>
          <a:stretch>
            <a:fillRect/>
          </a:stretch>
        </p:blipFill>
        <p:spPr>
          <a:xfrm>
            <a:off x="792206" y="2819675"/>
            <a:ext cx="7192379" cy="1986787"/>
          </a:xfrm>
          <a:prstGeom prst="rect">
            <a:avLst/>
          </a:prstGeom>
        </p:spPr>
      </p:pic>
    </p:spTree>
    <p:extLst>
      <p:ext uri="{BB962C8B-B14F-4D97-AF65-F5344CB8AC3E}">
        <p14:creationId xmlns:p14="http://schemas.microsoft.com/office/powerpoint/2010/main" val="377889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9AAD05-9A8B-C30B-B4D9-99E3A92A99B5}"/>
              </a:ext>
            </a:extLst>
          </p:cNvPr>
          <p:cNvSpPr>
            <a:spLocks noGrp="1"/>
          </p:cNvSpPr>
          <p:nvPr>
            <p:ph type="title"/>
          </p:nvPr>
        </p:nvSpPr>
        <p:spPr>
          <a:xfrm>
            <a:off x="674976" y="702156"/>
            <a:ext cx="10935832" cy="630482"/>
          </a:xfrm>
        </p:spPr>
        <p:txBody>
          <a:bodyPr/>
          <a:lstStyle/>
          <a:p>
            <a:r>
              <a:rPr lang="en-US" dirty="0"/>
              <a:t>Execution of Project (Cont.)</a:t>
            </a:r>
          </a:p>
        </p:txBody>
      </p:sp>
      <p:sp>
        <p:nvSpPr>
          <p:cNvPr id="5" name="Slide Number Placeholder 4">
            <a:extLst>
              <a:ext uri="{FF2B5EF4-FFF2-40B4-BE49-F238E27FC236}">
                <a16:creationId xmlns="" xmlns:a16="http://schemas.microsoft.com/office/drawing/2014/main" id="{57203070-D601-457B-9DF7-A4611183F29A}"/>
              </a:ext>
            </a:extLst>
          </p:cNvPr>
          <p:cNvSpPr>
            <a:spLocks noGrp="1"/>
          </p:cNvSpPr>
          <p:nvPr>
            <p:ph type="sldNum" sz="quarter" idx="12"/>
          </p:nvPr>
        </p:nvSpPr>
        <p:spPr/>
        <p:txBody>
          <a:bodyPr/>
          <a:lstStyle/>
          <a:p>
            <a:fld id="{3A98EE3D-8CD1-4C3F-BD1C-C98C9596463C}" type="slidenum">
              <a:rPr lang="en-US" smtClean="0"/>
              <a:t>14</a:t>
            </a:fld>
            <a:endParaRPr lang="en-US" dirty="0"/>
          </a:p>
        </p:txBody>
      </p:sp>
      <p:sp>
        <p:nvSpPr>
          <p:cNvPr id="10" name="TextBox 9">
            <a:extLst>
              <a:ext uri="{FF2B5EF4-FFF2-40B4-BE49-F238E27FC236}">
                <a16:creationId xmlns="" xmlns:a16="http://schemas.microsoft.com/office/drawing/2014/main" id="{3710AD9B-9F24-E8D6-B646-8CCC5F54AE35}"/>
              </a:ext>
            </a:extLst>
          </p:cNvPr>
          <p:cNvSpPr txBox="1"/>
          <p:nvPr/>
        </p:nvSpPr>
        <p:spPr>
          <a:xfrm>
            <a:off x="792206" y="1475992"/>
            <a:ext cx="9883324" cy="1477328"/>
          </a:xfrm>
          <a:prstGeom prst="rect">
            <a:avLst/>
          </a:prstGeom>
          <a:noFill/>
        </p:spPr>
        <p:txBody>
          <a:bodyPr wrap="square">
            <a:spAutoFit/>
          </a:bodyPr>
          <a:lstStyle/>
          <a:p>
            <a:pPr algn="l"/>
            <a:r>
              <a:rPr lang="en-US" b="0" i="0" dirty="0">
                <a:solidFill>
                  <a:srgbClr val="1F2328"/>
                </a:solidFill>
                <a:effectLst/>
                <a:latin typeface="-apple-system"/>
              </a:rPr>
              <a:t>In the end, we use </a:t>
            </a:r>
            <a:r>
              <a:rPr lang="en-US" b="0" i="0" u="sng" dirty="0">
                <a:effectLst/>
                <a:latin typeface="-apple-system"/>
                <a:hlinkClick r:id="rId2"/>
              </a:rPr>
              <a:t>HTMAnomalyExperiment</a:t>
            </a:r>
            <a:r>
              <a:rPr lang="en-US" b="0" i="0" dirty="0">
                <a:solidFill>
                  <a:srgbClr val="1F2328"/>
                </a:solidFill>
                <a:effectLst/>
                <a:latin typeface="-apple-system"/>
              </a:rPr>
              <a:t> to detected anomalies in sequences read from files inside predicting folder. All the classes explained earlier- CSV files reading (CsvSequenceFolder), combining and converting them for HTM training (CSVToHTMInputConverter) and training the HTM engine (using </a:t>
            </a:r>
            <a:r>
              <a:rPr lang="en-US" b="0" i="0" dirty="0" err="1" smtClean="0">
                <a:solidFill>
                  <a:srgbClr val="1F2328"/>
                </a:solidFill>
                <a:effectLst/>
                <a:latin typeface="-apple-system"/>
              </a:rPr>
              <a:t>HTMTrainingService</a:t>
            </a:r>
            <a:r>
              <a:rPr lang="en-US" b="0" i="0" dirty="0" smtClean="0">
                <a:solidFill>
                  <a:srgbClr val="1F2328"/>
                </a:solidFill>
                <a:effectLst/>
                <a:latin typeface="-apple-system"/>
              </a:rPr>
              <a:t>) </a:t>
            </a:r>
            <a:r>
              <a:rPr lang="en-US" b="0" i="0" dirty="0">
                <a:solidFill>
                  <a:srgbClr val="1F2328"/>
                </a:solidFill>
                <a:effectLst/>
                <a:latin typeface="-apple-system"/>
              </a:rPr>
              <a:t>will be used here.</a:t>
            </a:r>
            <a:endParaRPr lang="en-US" dirty="0"/>
          </a:p>
        </p:txBody>
      </p:sp>
      <p:pic>
        <p:nvPicPr>
          <p:cNvPr id="4" name="Picture 3">
            <a:extLst>
              <a:ext uri="{FF2B5EF4-FFF2-40B4-BE49-F238E27FC236}">
                <a16:creationId xmlns="" xmlns:a16="http://schemas.microsoft.com/office/drawing/2014/main" id="{91680CEF-8B3A-376C-E62A-05CAD6B89E2E}"/>
              </a:ext>
            </a:extLst>
          </p:cNvPr>
          <p:cNvPicPr>
            <a:picLocks noChangeAspect="1"/>
          </p:cNvPicPr>
          <p:nvPr/>
        </p:nvPicPr>
        <p:blipFill>
          <a:blip r:embed="rId3"/>
          <a:stretch>
            <a:fillRect/>
          </a:stretch>
        </p:blipFill>
        <p:spPr>
          <a:xfrm>
            <a:off x="792206" y="2915211"/>
            <a:ext cx="7582958" cy="1560128"/>
          </a:xfrm>
          <a:prstGeom prst="rect">
            <a:avLst/>
          </a:prstGeom>
        </p:spPr>
      </p:pic>
      <p:sp>
        <p:nvSpPr>
          <p:cNvPr id="8" name="TextBox 7">
            <a:extLst>
              <a:ext uri="{FF2B5EF4-FFF2-40B4-BE49-F238E27FC236}">
                <a16:creationId xmlns="" xmlns:a16="http://schemas.microsoft.com/office/drawing/2014/main" id="{4CC68AEC-DBA2-17BD-6292-D5299F0D2FC3}"/>
              </a:ext>
            </a:extLst>
          </p:cNvPr>
          <p:cNvSpPr txBox="1"/>
          <p:nvPr/>
        </p:nvSpPr>
        <p:spPr>
          <a:xfrm>
            <a:off x="792205" y="4379803"/>
            <a:ext cx="10321271" cy="646331"/>
          </a:xfrm>
          <a:prstGeom prst="rect">
            <a:avLst/>
          </a:prstGeom>
          <a:noFill/>
        </p:spPr>
        <p:txBody>
          <a:bodyPr wrap="square">
            <a:spAutoFit/>
          </a:bodyPr>
          <a:lstStyle/>
          <a:p>
            <a:r>
              <a:rPr lang="en-US" b="0" i="0" dirty="0">
                <a:solidFill>
                  <a:srgbClr val="1F2328"/>
                </a:solidFill>
                <a:effectLst/>
                <a:latin typeface="-apple-system"/>
              </a:rPr>
              <a:t>Path to training and predicting folder is set as default and passed on the constructor,  or can be set inside the class manually.</a:t>
            </a:r>
            <a:endParaRPr lang="en-US" dirty="0"/>
          </a:p>
        </p:txBody>
      </p:sp>
      <p:pic>
        <p:nvPicPr>
          <p:cNvPr id="11" name="Picture 10">
            <a:extLst>
              <a:ext uri="{FF2B5EF4-FFF2-40B4-BE49-F238E27FC236}">
                <a16:creationId xmlns="" xmlns:a16="http://schemas.microsoft.com/office/drawing/2014/main" id="{A0CA7150-C037-D918-7607-A7EC6051B81E}"/>
              </a:ext>
            </a:extLst>
          </p:cNvPr>
          <p:cNvPicPr>
            <a:picLocks noChangeAspect="1"/>
          </p:cNvPicPr>
          <p:nvPr/>
        </p:nvPicPr>
        <p:blipFill>
          <a:blip r:embed="rId4"/>
          <a:stretch>
            <a:fillRect/>
          </a:stretch>
        </p:blipFill>
        <p:spPr>
          <a:xfrm>
            <a:off x="792205" y="5272523"/>
            <a:ext cx="7059010" cy="905001"/>
          </a:xfrm>
          <a:prstGeom prst="rect">
            <a:avLst/>
          </a:prstGeom>
        </p:spPr>
      </p:pic>
    </p:spTree>
    <p:extLst>
      <p:ext uri="{BB962C8B-B14F-4D97-AF65-F5344CB8AC3E}">
        <p14:creationId xmlns:p14="http://schemas.microsoft.com/office/powerpoint/2010/main" val="430166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9AAD05-9A8B-C30B-B4D9-99E3A92A99B5}"/>
              </a:ext>
            </a:extLst>
          </p:cNvPr>
          <p:cNvSpPr>
            <a:spLocks noGrp="1"/>
          </p:cNvSpPr>
          <p:nvPr>
            <p:ph type="title"/>
          </p:nvPr>
        </p:nvSpPr>
        <p:spPr>
          <a:xfrm>
            <a:off x="674976" y="702156"/>
            <a:ext cx="10935832" cy="630482"/>
          </a:xfrm>
        </p:spPr>
        <p:txBody>
          <a:bodyPr/>
          <a:lstStyle/>
          <a:p>
            <a:r>
              <a:rPr lang="en-US" dirty="0"/>
              <a:t>Execution of Project (Cont.)</a:t>
            </a:r>
          </a:p>
        </p:txBody>
      </p:sp>
      <p:sp>
        <p:nvSpPr>
          <p:cNvPr id="5" name="Slide Number Placeholder 4">
            <a:extLst>
              <a:ext uri="{FF2B5EF4-FFF2-40B4-BE49-F238E27FC236}">
                <a16:creationId xmlns="" xmlns:a16="http://schemas.microsoft.com/office/drawing/2014/main" id="{57203070-D601-457B-9DF7-A4611183F29A}"/>
              </a:ext>
            </a:extLst>
          </p:cNvPr>
          <p:cNvSpPr>
            <a:spLocks noGrp="1"/>
          </p:cNvSpPr>
          <p:nvPr>
            <p:ph type="sldNum" sz="quarter" idx="12"/>
          </p:nvPr>
        </p:nvSpPr>
        <p:spPr/>
        <p:txBody>
          <a:bodyPr/>
          <a:lstStyle/>
          <a:p>
            <a:fld id="{3A98EE3D-8CD1-4C3F-BD1C-C98C9596463C}" type="slidenum">
              <a:rPr lang="en-US" smtClean="0"/>
              <a:t>15</a:t>
            </a:fld>
            <a:endParaRPr lang="en-US" dirty="0"/>
          </a:p>
        </p:txBody>
      </p:sp>
      <p:sp>
        <p:nvSpPr>
          <p:cNvPr id="10" name="TextBox 9">
            <a:extLst>
              <a:ext uri="{FF2B5EF4-FFF2-40B4-BE49-F238E27FC236}">
                <a16:creationId xmlns="" xmlns:a16="http://schemas.microsoft.com/office/drawing/2014/main" id="{3710AD9B-9F24-E8D6-B646-8CCC5F54AE35}"/>
              </a:ext>
            </a:extLst>
          </p:cNvPr>
          <p:cNvSpPr txBox="1"/>
          <p:nvPr/>
        </p:nvSpPr>
        <p:spPr>
          <a:xfrm>
            <a:off x="792206" y="1475992"/>
            <a:ext cx="9883324" cy="646331"/>
          </a:xfrm>
          <a:prstGeom prst="rect">
            <a:avLst/>
          </a:prstGeom>
          <a:noFill/>
        </p:spPr>
        <p:txBody>
          <a:bodyPr wrap="square">
            <a:spAutoFit/>
          </a:bodyPr>
          <a:lstStyle/>
          <a:p>
            <a:pPr algn="l"/>
            <a:r>
              <a:rPr lang="en-US" b="0" i="0" dirty="0">
                <a:solidFill>
                  <a:srgbClr val="1F2328"/>
                </a:solidFill>
                <a:effectLst/>
                <a:latin typeface="-apple-system"/>
              </a:rPr>
              <a:t>In the end, </a:t>
            </a:r>
            <a:r>
              <a:rPr lang="en-US" b="0" i="0" dirty="0" err="1">
                <a:solidFill>
                  <a:srgbClr val="1F2328"/>
                </a:solidFill>
                <a:effectLst/>
                <a:latin typeface="-apple-system"/>
              </a:rPr>
              <a:t>DetectAnomaly</a:t>
            </a:r>
            <a:r>
              <a:rPr lang="en-US" b="0" i="0" dirty="0">
                <a:solidFill>
                  <a:srgbClr val="1F2328"/>
                </a:solidFill>
                <a:effectLst/>
                <a:latin typeface="-apple-system"/>
              </a:rPr>
              <a:t> method is used to detect anomalies in our trimmed sequences one by one, using our trained HTM Model predictor.</a:t>
            </a:r>
            <a:endParaRPr lang="en-US" dirty="0"/>
          </a:p>
        </p:txBody>
      </p:sp>
      <p:pic>
        <p:nvPicPr>
          <p:cNvPr id="6" name="Picture 5">
            <a:extLst>
              <a:ext uri="{FF2B5EF4-FFF2-40B4-BE49-F238E27FC236}">
                <a16:creationId xmlns="" xmlns:a16="http://schemas.microsoft.com/office/drawing/2014/main" id="{9B840754-171B-8DC0-393E-9B661E85DCE5}"/>
              </a:ext>
            </a:extLst>
          </p:cNvPr>
          <p:cNvPicPr>
            <a:picLocks noChangeAspect="1"/>
          </p:cNvPicPr>
          <p:nvPr/>
        </p:nvPicPr>
        <p:blipFill>
          <a:blip r:embed="rId2"/>
          <a:stretch>
            <a:fillRect/>
          </a:stretch>
        </p:blipFill>
        <p:spPr>
          <a:xfrm>
            <a:off x="792206" y="2449326"/>
            <a:ext cx="6744641" cy="1428949"/>
          </a:xfrm>
          <a:prstGeom prst="rect">
            <a:avLst/>
          </a:prstGeom>
        </p:spPr>
      </p:pic>
      <p:sp>
        <p:nvSpPr>
          <p:cNvPr id="8" name="TextBox 7">
            <a:extLst>
              <a:ext uri="{FF2B5EF4-FFF2-40B4-BE49-F238E27FC236}">
                <a16:creationId xmlns="" xmlns:a16="http://schemas.microsoft.com/office/drawing/2014/main" id="{28EB8013-A253-B676-582F-3F3F37CBA901}"/>
              </a:ext>
            </a:extLst>
          </p:cNvPr>
          <p:cNvSpPr txBox="1"/>
          <p:nvPr/>
        </p:nvSpPr>
        <p:spPr>
          <a:xfrm>
            <a:off x="674976" y="3878275"/>
            <a:ext cx="10724818" cy="923330"/>
          </a:xfrm>
          <a:prstGeom prst="rect">
            <a:avLst/>
          </a:prstGeom>
          <a:noFill/>
        </p:spPr>
        <p:txBody>
          <a:bodyPr wrap="square">
            <a:spAutoFit/>
          </a:bodyPr>
          <a:lstStyle/>
          <a:p>
            <a:r>
              <a:rPr lang="en-US" b="0" i="0" u="sng" dirty="0">
                <a:effectLst/>
                <a:latin typeface="-apple-system"/>
                <a:hlinkClick r:id="rId3"/>
              </a:rPr>
              <a:t>Detect Anomaly</a:t>
            </a:r>
            <a:r>
              <a:rPr lang="en-US" b="0" i="0" dirty="0">
                <a:solidFill>
                  <a:srgbClr val="1F2328"/>
                </a:solidFill>
                <a:effectLst/>
                <a:latin typeface="-apple-system"/>
              </a:rPr>
              <a:t> is the main method from </a:t>
            </a:r>
            <a:r>
              <a:rPr lang="en-US" b="0" i="0" dirty="0" err="1">
                <a:solidFill>
                  <a:srgbClr val="1F2328"/>
                </a:solidFill>
                <a:effectLst/>
                <a:latin typeface="-apple-system"/>
              </a:rPr>
              <a:t>ExtractSequencesFromFolder</a:t>
            </a:r>
            <a:r>
              <a:rPr lang="en-US" b="0" i="0" dirty="0">
                <a:solidFill>
                  <a:srgbClr val="1F2328"/>
                </a:solidFill>
                <a:effectLst/>
                <a:latin typeface="-apple-system"/>
              </a:rPr>
              <a:t> class which detects anomalies in our data. It traverses each value of a list one by one in a sliding window manner, and uses trained model predictor to predict the next element for comparison. </a:t>
            </a:r>
            <a:endParaRPr lang="en-US" dirty="0"/>
          </a:p>
        </p:txBody>
      </p:sp>
      <p:pic>
        <p:nvPicPr>
          <p:cNvPr id="11" name="Picture 10">
            <a:extLst>
              <a:ext uri="{FF2B5EF4-FFF2-40B4-BE49-F238E27FC236}">
                <a16:creationId xmlns="" xmlns:a16="http://schemas.microsoft.com/office/drawing/2014/main" id="{63296744-9891-84A8-5F05-D4E359E00147}"/>
              </a:ext>
            </a:extLst>
          </p:cNvPr>
          <p:cNvPicPr>
            <a:picLocks noChangeAspect="1"/>
          </p:cNvPicPr>
          <p:nvPr/>
        </p:nvPicPr>
        <p:blipFill>
          <a:blip r:embed="rId4"/>
          <a:stretch>
            <a:fillRect/>
          </a:stretch>
        </p:blipFill>
        <p:spPr>
          <a:xfrm>
            <a:off x="792206" y="5301362"/>
            <a:ext cx="3905795" cy="457264"/>
          </a:xfrm>
          <a:prstGeom prst="rect">
            <a:avLst/>
          </a:prstGeom>
        </p:spPr>
      </p:pic>
    </p:spTree>
    <p:extLst>
      <p:ext uri="{BB962C8B-B14F-4D97-AF65-F5344CB8AC3E}">
        <p14:creationId xmlns:p14="http://schemas.microsoft.com/office/powerpoint/2010/main" val="2526094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9AAD05-9A8B-C30B-B4D9-99E3A92A99B5}"/>
              </a:ext>
            </a:extLst>
          </p:cNvPr>
          <p:cNvSpPr>
            <a:spLocks noGrp="1"/>
          </p:cNvSpPr>
          <p:nvPr>
            <p:ph type="title"/>
          </p:nvPr>
        </p:nvSpPr>
        <p:spPr>
          <a:xfrm>
            <a:off x="674976" y="702156"/>
            <a:ext cx="10935832" cy="630482"/>
          </a:xfrm>
        </p:spPr>
        <p:txBody>
          <a:bodyPr/>
          <a:lstStyle/>
          <a:p>
            <a:r>
              <a:rPr lang="en-US" dirty="0"/>
              <a:t>Execution of Project (Cont.)</a:t>
            </a:r>
          </a:p>
        </p:txBody>
      </p:sp>
      <p:sp>
        <p:nvSpPr>
          <p:cNvPr id="5" name="Slide Number Placeholder 4">
            <a:extLst>
              <a:ext uri="{FF2B5EF4-FFF2-40B4-BE49-F238E27FC236}">
                <a16:creationId xmlns="" xmlns:a16="http://schemas.microsoft.com/office/drawing/2014/main" id="{57203070-D601-457B-9DF7-A4611183F29A}"/>
              </a:ext>
            </a:extLst>
          </p:cNvPr>
          <p:cNvSpPr>
            <a:spLocks noGrp="1"/>
          </p:cNvSpPr>
          <p:nvPr>
            <p:ph type="sldNum" sz="quarter" idx="12"/>
          </p:nvPr>
        </p:nvSpPr>
        <p:spPr/>
        <p:txBody>
          <a:bodyPr/>
          <a:lstStyle/>
          <a:p>
            <a:fld id="{3A98EE3D-8CD1-4C3F-BD1C-C98C9596463C}" type="slidenum">
              <a:rPr lang="en-US" smtClean="0"/>
              <a:t>16</a:t>
            </a:fld>
            <a:endParaRPr lang="en-US" dirty="0"/>
          </a:p>
        </p:txBody>
      </p:sp>
      <p:sp>
        <p:nvSpPr>
          <p:cNvPr id="10" name="TextBox 9">
            <a:extLst>
              <a:ext uri="{FF2B5EF4-FFF2-40B4-BE49-F238E27FC236}">
                <a16:creationId xmlns="" xmlns:a16="http://schemas.microsoft.com/office/drawing/2014/main" id="{3710AD9B-9F24-E8D6-B646-8CCC5F54AE35}"/>
              </a:ext>
            </a:extLst>
          </p:cNvPr>
          <p:cNvSpPr txBox="1"/>
          <p:nvPr/>
        </p:nvSpPr>
        <p:spPr>
          <a:xfrm>
            <a:off x="792206" y="1475992"/>
            <a:ext cx="9883324" cy="646331"/>
          </a:xfrm>
          <a:prstGeom prst="rect">
            <a:avLst/>
          </a:prstGeom>
          <a:noFill/>
        </p:spPr>
        <p:txBody>
          <a:bodyPr wrap="square">
            <a:spAutoFit/>
          </a:bodyPr>
          <a:lstStyle/>
          <a:p>
            <a:pPr algn="l"/>
            <a:r>
              <a:rPr lang="en-US" b="0" i="0" dirty="0">
                <a:solidFill>
                  <a:srgbClr val="1F2328"/>
                </a:solidFill>
                <a:effectLst/>
                <a:latin typeface="-apple-system"/>
              </a:rPr>
              <a:t>Here, assume that item passed to the model is of int type with value 8. We can use this to analyze how prediction works. When this is executed,</a:t>
            </a:r>
            <a:endParaRPr lang="en-US" dirty="0"/>
          </a:p>
        </p:txBody>
      </p:sp>
      <p:sp>
        <p:nvSpPr>
          <p:cNvPr id="8" name="TextBox 7">
            <a:extLst>
              <a:ext uri="{FF2B5EF4-FFF2-40B4-BE49-F238E27FC236}">
                <a16:creationId xmlns="" xmlns:a16="http://schemas.microsoft.com/office/drawing/2014/main" id="{28EB8013-A253-B676-582F-3F3F37CBA901}"/>
              </a:ext>
            </a:extLst>
          </p:cNvPr>
          <p:cNvSpPr txBox="1"/>
          <p:nvPr/>
        </p:nvSpPr>
        <p:spPr>
          <a:xfrm>
            <a:off x="674976" y="3878275"/>
            <a:ext cx="10724818" cy="369332"/>
          </a:xfrm>
          <a:prstGeom prst="rect">
            <a:avLst/>
          </a:prstGeom>
          <a:noFill/>
        </p:spPr>
        <p:txBody>
          <a:bodyPr wrap="square">
            <a:spAutoFit/>
          </a:bodyPr>
          <a:lstStyle/>
          <a:p>
            <a:r>
              <a:rPr lang="en-US" b="0" i="0" dirty="0">
                <a:solidFill>
                  <a:srgbClr val="1F2328"/>
                </a:solidFill>
                <a:effectLst/>
                <a:latin typeface="-apple-system"/>
              </a:rPr>
              <a:t>We get the following output.</a:t>
            </a:r>
            <a:endParaRPr lang="en-US" dirty="0"/>
          </a:p>
        </p:txBody>
      </p:sp>
      <p:pic>
        <p:nvPicPr>
          <p:cNvPr id="4" name="Picture 3">
            <a:extLst>
              <a:ext uri="{FF2B5EF4-FFF2-40B4-BE49-F238E27FC236}">
                <a16:creationId xmlns="" xmlns:a16="http://schemas.microsoft.com/office/drawing/2014/main" id="{2CCF0E66-1FAD-2F05-A345-BF521205AA58}"/>
              </a:ext>
            </a:extLst>
          </p:cNvPr>
          <p:cNvPicPr>
            <a:picLocks noChangeAspect="1"/>
          </p:cNvPicPr>
          <p:nvPr/>
        </p:nvPicPr>
        <p:blipFill>
          <a:blip r:embed="rId2"/>
          <a:stretch>
            <a:fillRect/>
          </a:stretch>
        </p:blipFill>
        <p:spPr>
          <a:xfrm>
            <a:off x="792206" y="2349300"/>
            <a:ext cx="7630590" cy="1019317"/>
          </a:xfrm>
          <a:prstGeom prst="rect">
            <a:avLst/>
          </a:prstGeom>
        </p:spPr>
      </p:pic>
      <p:pic>
        <p:nvPicPr>
          <p:cNvPr id="9" name="Picture 8">
            <a:extLst>
              <a:ext uri="{FF2B5EF4-FFF2-40B4-BE49-F238E27FC236}">
                <a16:creationId xmlns="" xmlns:a16="http://schemas.microsoft.com/office/drawing/2014/main" id="{4CFD010F-BF09-73AD-9DA9-D6D7D842CE92}"/>
              </a:ext>
            </a:extLst>
          </p:cNvPr>
          <p:cNvPicPr>
            <a:picLocks noChangeAspect="1"/>
          </p:cNvPicPr>
          <p:nvPr/>
        </p:nvPicPr>
        <p:blipFill>
          <a:blip r:embed="rId3"/>
          <a:stretch>
            <a:fillRect/>
          </a:stretch>
        </p:blipFill>
        <p:spPr>
          <a:xfrm>
            <a:off x="674976" y="4667960"/>
            <a:ext cx="4458322" cy="1105054"/>
          </a:xfrm>
          <a:prstGeom prst="rect">
            <a:avLst/>
          </a:prstGeom>
        </p:spPr>
      </p:pic>
    </p:spTree>
    <p:extLst>
      <p:ext uri="{BB962C8B-B14F-4D97-AF65-F5344CB8AC3E}">
        <p14:creationId xmlns:p14="http://schemas.microsoft.com/office/powerpoint/2010/main" val="3863329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9AAD05-9A8B-C30B-B4D9-99E3A92A99B5}"/>
              </a:ext>
            </a:extLst>
          </p:cNvPr>
          <p:cNvSpPr>
            <a:spLocks noGrp="1"/>
          </p:cNvSpPr>
          <p:nvPr>
            <p:ph type="title"/>
          </p:nvPr>
        </p:nvSpPr>
        <p:spPr>
          <a:xfrm>
            <a:off x="674976" y="702156"/>
            <a:ext cx="10935832" cy="630482"/>
          </a:xfrm>
        </p:spPr>
        <p:txBody>
          <a:bodyPr/>
          <a:lstStyle/>
          <a:p>
            <a:r>
              <a:rPr lang="en-US" dirty="0"/>
              <a:t>Execution of Project (Cont.)</a:t>
            </a:r>
          </a:p>
        </p:txBody>
      </p:sp>
      <p:sp>
        <p:nvSpPr>
          <p:cNvPr id="5" name="Slide Number Placeholder 4">
            <a:extLst>
              <a:ext uri="{FF2B5EF4-FFF2-40B4-BE49-F238E27FC236}">
                <a16:creationId xmlns="" xmlns:a16="http://schemas.microsoft.com/office/drawing/2014/main" id="{57203070-D601-457B-9DF7-A4611183F29A}"/>
              </a:ext>
            </a:extLst>
          </p:cNvPr>
          <p:cNvSpPr>
            <a:spLocks noGrp="1"/>
          </p:cNvSpPr>
          <p:nvPr>
            <p:ph type="sldNum" sz="quarter" idx="12"/>
          </p:nvPr>
        </p:nvSpPr>
        <p:spPr/>
        <p:txBody>
          <a:bodyPr/>
          <a:lstStyle/>
          <a:p>
            <a:fld id="{3A98EE3D-8CD1-4C3F-BD1C-C98C9596463C}" type="slidenum">
              <a:rPr lang="en-US" smtClean="0"/>
              <a:t>17</a:t>
            </a:fld>
            <a:endParaRPr lang="en-US" dirty="0"/>
          </a:p>
        </p:txBody>
      </p:sp>
      <p:sp>
        <p:nvSpPr>
          <p:cNvPr id="10" name="TextBox 9">
            <a:extLst>
              <a:ext uri="{FF2B5EF4-FFF2-40B4-BE49-F238E27FC236}">
                <a16:creationId xmlns="" xmlns:a16="http://schemas.microsoft.com/office/drawing/2014/main" id="{3710AD9B-9F24-E8D6-B646-8CCC5F54AE35}"/>
              </a:ext>
            </a:extLst>
          </p:cNvPr>
          <p:cNvSpPr txBox="1"/>
          <p:nvPr/>
        </p:nvSpPr>
        <p:spPr>
          <a:xfrm>
            <a:off x="792206" y="1475992"/>
            <a:ext cx="9883324" cy="3693319"/>
          </a:xfrm>
          <a:prstGeom prst="rect">
            <a:avLst/>
          </a:prstGeom>
          <a:noFill/>
        </p:spPr>
        <p:txBody>
          <a:bodyPr wrap="square">
            <a:spAutoFit/>
          </a:bodyPr>
          <a:lstStyle/>
          <a:p>
            <a:pPr marL="285750" indent="-285750" algn="l">
              <a:buFont typeface="Wingdings" panose="05000000000000000000" pitchFamily="2" charset="2"/>
              <a:buChar char="§"/>
            </a:pPr>
            <a:endParaRPr lang="en-US" b="0" i="0" dirty="0">
              <a:solidFill>
                <a:srgbClr val="1F2328"/>
              </a:solidFill>
              <a:effectLst/>
              <a:latin typeface="-apple-system"/>
            </a:endParaRPr>
          </a:p>
          <a:p>
            <a:pPr marL="285750" indent="-285750" algn="l">
              <a:buFont typeface="Wingdings" panose="05000000000000000000" pitchFamily="2" charset="2"/>
              <a:buChar char="§"/>
            </a:pPr>
            <a:r>
              <a:rPr lang="en-US" b="0" i="0" dirty="0">
                <a:solidFill>
                  <a:srgbClr val="1F2328"/>
                </a:solidFill>
                <a:effectLst/>
                <a:latin typeface="-apple-system"/>
              </a:rPr>
              <a:t>When we iteratively pass values to </a:t>
            </a:r>
            <a:r>
              <a:rPr lang="en-US" b="0" i="0" dirty="0" err="1">
                <a:solidFill>
                  <a:srgbClr val="1F2328"/>
                </a:solidFill>
                <a:effectLst/>
                <a:latin typeface="-apple-system"/>
              </a:rPr>
              <a:t>DetectAnomaly</a:t>
            </a:r>
            <a:r>
              <a:rPr lang="en-US" b="0" i="0" dirty="0">
                <a:solidFill>
                  <a:srgbClr val="1F2328"/>
                </a:solidFill>
                <a:effectLst/>
                <a:latin typeface="-apple-system"/>
              </a:rPr>
              <a:t> method using our sliding window approach, we will not be able to detect anomaly in the first element. So, in the beginning, we use the second element of the list to predict and compare the previous element (which is the first element). A flag is set to control the command execution; if the first element has anomaly, then we will not use it to detect our second element. We will directly start from second element. Otherwise, we will start from first element as usual.</a:t>
            </a:r>
          </a:p>
          <a:p>
            <a:pPr algn="l"/>
            <a:endParaRPr lang="en-US" b="0" i="0" dirty="0">
              <a:solidFill>
                <a:srgbClr val="1F2328"/>
              </a:solidFill>
              <a:effectLst/>
              <a:latin typeface="-apple-system"/>
            </a:endParaRPr>
          </a:p>
          <a:p>
            <a:pPr marL="285750" indent="-285750" algn="l">
              <a:buFont typeface="Wingdings" panose="05000000000000000000" pitchFamily="2" charset="2"/>
              <a:buChar char="§"/>
            </a:pPr>
            <a:r>
              <a:rPr lang="en-US" b="0" i="0" dirty="0">
                <a:solidFill>
                  <a:srgbClr val="1F2328"/>
                </a:solidFill>
                <a:effectLst/>
                <a:latin typeface="-apple-system"/>
              </a:rPr>
              <a:t>Now, when we traverse the list one by one to the right, we pass the value to the predictor to get the next value and compare the prediction with the actual value. If there's anomaly, then it is outputted to the user, and the anomalous element is skipped. Upon reaching to the last element, we can end our traversal and move on to next list.</a:t>
            </a:r>
          </a:p>
          <a:p>
            <a:pPr algn="l"/>
            <a:endParaRPr lang="en-US" dirty="0"/>
          </a:p>
        </p:txBody>
      </p:sp>
    </p:spTree>
    <p:extLst>
      <p:ext uri="{BB962C8B-B14F-4D97-AF65-F5344CB8AC3E}">
        <p14:creationId xmlns:p14="http://schemas.microsoft.com/office/powerpoint/2010/main" val="4155888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 xmlns:a16="http://schemas.microsoft.com/office/drawing/2014/main" id="{FBB53F82-F191-4EEB-AB7B-F69E634FA3E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3">
            <a:extLst>
              <a:ext uri="{FF2B5EF4-FFF2-40B4-BE49-F238E27FC236}">
                <a16:creationId xmlns="" xmlns:a16="http://schemas.microsoft.com/office/drawing/2014/main" id="{AA9E537E-8F1D-CE1E-C433-D916E2A818CB}"/>
              </a:ext>
            </a:extLst>
          </p:cNvPr>
          <p:cNvSpPr txBox="1">
            <a:spLocks/>
          </p:cNvSpPr>
          <p:nvPr/>
        </p:nvSpPr>
        <p:spPr>
          <a:xfrm>
            <a:off x="581192" y="702156"/>
            <a:ext cx="11029616" cy="1188720"/>
          </a:xfrm>
          <a:prstGeom prst="rect">
            <a:avLst/>
          </a:prstGeom>
        </p:spPr>
        <p:txBody>
          <a:bodyPr vert="horz" lIns="91440" tIns="45720" rIns="91440" bIns="45720" rtlCol="0" anchor="b"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a:t>results</a:t>
            </a:r>
          </a:p>
        </p:txBody>
      </p:sp>
      <p:sp>
        <p:nvSpPr>
          <p:cNvPr id="56" name="Rectangle 55">
            <a:extLst>
              <a:ext uri="{FF2B5EF4-FFF2-40B4-BE49-F238E27FC236}">
                <a16:creationId xmlns="" xmlns:a16="http://schemas.microsoft.com/office/drawing/2014/main" id="{8616AA08-3831-473D-B61B-89484A33CF6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57" name="Rectangle 56">
            <a:extLst>
              <a:ext uri="{FF2B5EF4-FFF2-40B4-BE49-F238E27FC236}">
                <a16:creationId xmlns="" xmlns:a16="http://schemas.microsoft.com/office/drawing/2014/main" id="{8431B918-3A1C-46BA-9430-CAD97D9DA0F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58" name="Rectangle 57">
            <a:extLst>
              <a:ext uri="{FF2B5EF4-FFF2-40B4-BE49-F238E27FC236}">
                <a16:creationId xmlns="" xmlns:a16="http://schemas.microsoft.com/office/drawing/2014/main" id="{8400935A-2F82-4DC4-A4E1-E12EFB8C27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59" name="Rectangle 58">
            <a:extLst>
              <a:ext uri="{FF2B5EF4-FFF2-40B4-BE49-F238E27FC236}">
                <a16:creationId xmlns="" xmlns:a16="http://schemas.microsoft.com/office/drawing/2014/main" id="{A3D5D599-1CAE-4C92-B5AE-8E51AF6D47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 xmlns:a16="http://schemas.microsoft.com/office/drawing/2014/main" id="{B92CE03F-890F-C587-01FA-601ED081496E}"/>
              </a:ext>
            </a:extLst>
          </p:cNvPr>
          <p:cNvPicPr>
            <a:picLocks noChangeAspect="1"/>
          </p:cNvPicPr>
          <p:nvPr/>
        </p:nvPicPr>
        <p:blipFill>
          <a:blip r:embed="rId2"/>
          <a:stretch>
            <a:fillRect/>
          </a:stretch>
        </p:blipFill>
        <p:spPr>
          <a:xfrm>
            <a:off x="780698" y="2753384"/>
            <a:ext cx="4748741" cy="2896731"/>
          </a:xfrm>
          <a:prstGeom prst="rect">
            <a:avLst/>
          </a:prstGeom>
        </p:spPr>
      </p:pic>
      <p:sp>
        <p:nvSpPr>
          <p:cNvPr id="6" name="TextBox 5">
            <a:extLst>
              <a:ext uri="{FF2B5EF4-FFF2-40B4-BE49-F238E27FC236}">
                <a16:creationId xmlns="" xmlns:a16="http://schemas.microsoft.com/office/drawing/2014/main" id="{A57CE0FA-5284-2C21-392D-79C5D5E7A8AE}"/>
              </a:ext>
            </a:extLst>
          </p:cNvPr>
          <p:cNvSpPr txBox="1"/>
          <p:nvPr/>
        </p:nvSpPr>
        <p:spPr>
          <a:xfrm>
            <a:off x="6335805" y="2180496"/>
            <a:ext cx="5275001" cy="4045683"/>
          </a:xfrm>
          <a:prstGeom prst="rect">
            <a:avLst/>
          </a:prstGeom>
        </p:spPr>
        <p:txBody>
          <a:bodyPr vert="horz" lIns="91440" tIns="45720" rIns="91440" bIns="45720" rtlCol="0" anchor="ctr">
            <a:normAutofit/>
          </a:bodyPr>
          <a:lstStyle/>
          <a:p>
            <a:pPr algn="just" defTabSz="457200">
              <a:spcBef>
                <a:spcPct val="20000"/>
              </a:spcBef>
              <a:spcAft>
                <a:spcPts val="600"/>
              </a:spcAft>
              <a:buClr>
                <a:schemeClr val="accent1"/>
              </a:buClr>
              <a:buSzPct val="92000"/>
              <a:buFont typeface="Wingdings 2" panose="05020102010507070707" pitchFamily="18" charset="2"/>
              <a:buChar char=""/>
            </a:pPr>
            <a:r>
              <a:rPr lang="en-US" b="0" i="0" dirty="0">
                <a:solidFill>
                  <a:schemeClr val="tx1">
                    <a:lumMod val="75000"/>
                    <a:lumOff val="25000"/>
                  </a:schemeClr>
                </a:solidFill>
                <a:effectLst/>
              </a:rPr>
              <a:t>We have used multiple sequences to learn the model based on the predicting power consumptions with HTM </a:t>
            </a:r>
            <a:r>
              <a:rPr lang="en-US" b="0" i="0" u="sng" dirty="0">
                <a:solidFill>
                  <a:schemeClr val="tx1">
                    <a:lumMod val="75000"/>
                    <a:lumOff val="25000"/>
                  </a:schemeClr>
                </a:solidFill>
                <a:effectLst/>
                <a:hlinkClick r:id="rId3"/>
              </a:rPr>
              <a:t>probablymarcus.com</a:t>
            </a:r>
            <a:r>
              <a:rPr lang="en-US" b="0" i="0" dirty="0">
                <a:solidFill>
                  <a:schemeClr val="tx1">
                    <a:lumMod val="75000"/>
                    <a:lumOff val="25000"/>
                  </a:schemeClr>
                </a:solidFill>
                <a:effectLst/>
              </a:rPr>
              <a:t>. The test sequences exhibit a pattern where values increase to a peak and then decrease symmetrically, which is characteristic of a sine wave.</a:t>
            </a:r>
          </a:p>
          <a:p>
            <a:pPr defTabSz="457200">
              <a:spcBef>
                <a:spcPct val="20000"/>
              </a:spcBef>
              <a:spcAft>
                <a:spcPts val="600"/>
              </a:spcAft>
              <a:buClr>
                <a:schemeClr val="accent1"/>
              </a:buClr>
              <a:buSzPct val="92000"/>
            </a:pPr>
            <a:r>
              <a:rPr lang="en-US" b="0" i="0" u="sng" dirty="0">
                <a:solidFill>
                  <a:schemeClr val="tx1">
                    <a:lumMod val="75000"/>
                    <a:lumOff val="25000"/>
                  </a:schemeClr>
                </a:solidFill>
                <a:effectLst/>
              </a:rPr>
              <a:t/>
            </a:r>
            <a:br>
              <a:rPr lang="en-US" b="0" i="0" u="sng" dirty="0">
                <a:solidFill>
                  <a:schemeClr val="tx1">
                    <a:lumMod val="75000"/>
                    <a:lumOff val="25000"/>
                  </a:schemeClr>
                </a:solidFill>
                <a:effectLst/>
              </a:rPr>
            </a:br>
            <a:endParaRPr lang="en-US" b="0" i="0" dirty="0">
              <a:solidFill>
                <a:schemeClr val="tx1">
                  <a:lumMod val="75000"/>
                  <a:lumOff val="25000"/>
                </a:schemeClr>
              </a:solidFill>
              <a:effectLst/>
            </a:endParaRPr>
          </a:p>
          <a:p>
            <a:pPr defTabSz="457200">
              <a:spcBef>
                <a:spcPct val="20000"/>
              </a:spcBef>
              <a:spcAft>
                <a:spcPts val="600"/>
              </a:spcAft>
              <a:buClr>
                <a:schemeClr val="accent1"/>
              </a:buClr>
              <a:buSzPct val="92000"/>
              <a:buFont typeface="Wingdings 2" panose="05020102010507070707" pitchFamily="18" charset="2"/>
              <a:buChar char=""/>
            </a:pPr>
            <a:r>
              <a:rPr lang="en-US" b="0" i="0" dirty="0">
                <a:solidFill>
                  <a:schemeClr val="tx1">
                    <a:lumMod val="75000"/>
                    <a:lumOff val="25000"/>
                  </a:schemeClr>
                </a:solidFill>
                <a:effectLst/>
              </a:rPr>
              <a:t>We trained the model using 20 sequences and evaluated its accuracy in detecting anomalies within the test sequences provided here in this Table 1.</a:t>
            </a:r>
          </a:p>
          <a:p>
            <a:pPr defTabSz="457200">
              <a:spcBef>
                <a:spcPct val="20000"/>
              </a:spcBef>
              <a:spcAft>
                <a:spcPts val="600"/>
              </a:spcAft>
              <a:buClr>
                <a:schemeClr val="accent1"/>
              </a:buClr>
              <a:buSzPct val="92000"/>
              <a:buFont typeface="Wingdings 2" panose="05020102010507070707" pitchFamily="18" charset="2"/>
              <a:buChar char=""/>
            </a:pPr>
            <a:endParaRPr lang="en-US" dirty="0">
              <a:solidFill>
                <a:schemeClr val="tx1">
                  <a:lumMod val="75000"/>
                  <a:lumOff val="25000"/>
                </a:schemeClr>
              </a:solidFill>
            </a:endParaRPr>
          </a:p>
        </p:txBody>
      </p:sp>
      <p:sp>
        <p:nvSpPr>
          <p:cNvPr id="5" name="Slide Number Placeholder 4">
            <a:extLst>
              <a:ext uri="{FF2B5EF4-FFF2-40B4-BE49-F238E27FC236}">
                <a16:creationId xmlns="" xmlns:a16="http://schemas.microsoft.com/office/drawing/2014/main" id="{2687D6E6-D5FA-4C9E-C76D-CC433D92DBC4}"/>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defTabSz="457200">
              <a:spcAft>
                <a:spcPts val="600"/>
              </a:spcAft>
            </a:pPr>
            <a:fld id="{3A98EE3D-8CD1-4C3F-BD1C-C98C9596463C}" type="slidenum">
              <a:rPr lang="en-US" smtClean="0">
                <a:solidFill>
                  <a:srgbClr val="F9C06E"/>
                </a:solidFill>
              </a:rPr>
              <a:pPr defTabSz="457200">
                <a:spcAft>
                  <a:spcPts val="600"/>
                </a:spcAft>
              </a:pPr>
              <a:t>18</a:t>
            </a:fld>
            <a:endParaRPr lang="en-US">
              <a:solidFill>
                <a:srgbClr val="F9C06E"/>
              </a:solidFill>
            </a:endParaRPr>
          </a:p>
        </p:txBody>
      </p:sp>
    </p:spTree>
    <p:extLst>
      <p:ext uri="{BB962C8B-B14F-4D97-AF65-F5344CB8AC3E}">
        <p14:creationId xmlns:p14="http://schemas.microsoft.com/office/powerpoint/2010/main" val="3566107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 xmlns:a16="http://schemas.microsoft.com/office/drawing/2014/main" id="{F5F60F02-C948-1B8C-06E4-2D8D8DF339FE}"/>
            </a:ext>
          </a:extLst>
        </p:cNvPr>
        <p:cNvGrpSpPr/>
        <p:nvPr/>
      </p:nvGrpSpPr>
      <p:grpSpPr>
        <a:xfrm>
          <a:off x="0" y="0"/>
          <a:ext cx="0" cy="0"/>
          <a:chOff x="0" y="0"/>
          <a:chExt cx="0" cy="0"/>
        </a:xfrm>
      </p:grpSpPr>
      <p:sp useBgFill="1">
        <p:nvSpPr>
          <p:cNvPr id="64" name="Rectangle 63">
            <a:extLst>
              <a:ext uri="{FF2B5EF4-FFF2-40B4-BE49-F238E27FC236}">
                <a16:creationId xmlns="" xmlns:a16="http://schemas.microsoft.com/office/drawing/2014/main" id="{FBB53F82-F191-4EEB-AB7B-F69E634FA3E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3">
            <a:extLst>
              <a:ext uri="{FF2B5EF4-FFF2-40B4-BE49-F238E27FC236}">
                <a16:creationId xmlns="" xmlns:a16="http://schemas.microsoft.com/office/drawing/2014/main" id="{7D022C33-BFDF-5C4C-E739-05EC47622721}"/>
              </a:ext>
            </a:extLst>
          </p:cNvPr>
          <p:cNvSpPr txBox="1">
            <a:spLocks/>
          </p:cNvSpPr>
          <p:nvPr/>
        </p:nvSpPr>
        <p:spPr>
          <a:xfrm>
            <a:off x="581192" y="702156"/>
            <a:ext cx="11029616" cy="1188720"/>
          </a:xfrm>
          <a:prstGeom prst="rect">
            <a:avLst/>
          </a:prstGeom>
        </p:spPr>
        <p:txBody>
          <a:bodyPr vert="horz" lIns="91440" tIns="45720" rIns="91440" bIns="45720" rtlCol="0" anchor="b"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a:t>Results (Cont.) – Graphical result Alanysis</a:t>
            </a:r>
            <a:endParaRPr lang="en-US" dirty="0"/>
          </a:p>
        </p:txBody>
      </p:sp>
      <p:sp>
        <p:nvSpPr>
          <p:cNvPr id="66" name="Rectangle 65">
            <a:extLst>
              <a:ext uri="{FF2B5EF4-FFF2-40B4-BE49-F238E27FC236}">
                <a16:creationId xmlns="" xmlns:a16="http://schemas.microsoft.com/office/drawing/2014/main" id="{8616AA08-3831-473D-B61B-89484A33CF6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68" name="Rectangle 67">
            <a:extLst>
              <a:ext uri="{FF2B5EF4-FFF2-40B4-BE49-F238E27FC236}">
                <a16:creationId xmlns="" xmlns:a16="http://schemas.microsoft.com/office/drawing/2014/main" id="{8431B918-3A1C-46BA-9430-CAD97D9DA0F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70" name="Rectangle 69">
            <a:extLst>
              <a:ext uri="{FF2B5EF4-FFF2-40B4-BE49-F238E27FC236}">
                <a16:creationId xmlns="" xmlns:a16="http://schemas.microsoft.com/office/drawing/2014/main" id="{8400935A-2F82-4DC4-A4E1-E12EFB8C27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72" name="Rectangle 71">
            <a:extLst>
              <a:ext uri="{FF2B5EF4-FFF2-40B4-BE49-F238E27FC236}">
                <a16:creationId xmlns="" xmlns:a16="http://schemas.microsoft.com/office/drawing/2014/main" id="{A3D5D599-1CAE-4C92-B5AE-8E51AF6D47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 xmlns:a16="http://schemas.microsoft.com/office/drawing/2014/main" id="{A7AE0E48-D460-75ED-0888-B51E3F55EAC1}"/>
              </a:ext>
            </a:extLst>
          </p:cNvPr>
          <p:cNvPicPr>
            <a:picLocks noChangeAspect="1"/>
          </p:cNvPicPr>
          <p:nvPr/>
        </p:nvPicPr>
        <p:blipFill>
          <a:blip r:embed="rId2"/>
          <a:stretch>
            <a:fillRect/>
          </a:stretch>
        </p:blipFill>
        <p:spPr>
          <a:xfrm>
            <a:off x="581192" y="2394857"/>
            <a:ext cx="5269980" cy="3483429"/>
          </a:xfrm>
          <a:prstGeom prst="rect">
            <a:avLst/>
          </a:prstGeom>
        </p:spPr>
      </p:pic>
      <p:sp>
        <p:nvSpPr>
          <p:cNvPr id="3" name="TextBox 2">
            <a:extLst>
              <a:ext uri="{FF2B5EF4-FFF2-40B4-BE49-F238E27FC236}">
                <a16:creationId xmlns="" xmlns:a16="http://schemas.microsoft.com/office/drawing/2014/main" id="{2D41728C-7F72-BFB0-C419-B517A7AE7B78}"/>
              </a:ext>
            </a:extLst>
          </p:cNvPr>
          <p:cNvSpPr txBox="1"/>
          <p:nvPr/>
        </p:nvSpPr>
        <p:spPr>
          <a:xfrm>
            <a:off x="6335805" y="2180496"/>
            <a:ext cx="5275001" cy="4045683"/>
          </a:xfrm>
          <a:prstGeom prst="rect">
            <a:avLst/>
          </a:prstGeom>
        </p:spPr>
        <p:txBody>
          <a:bodyPr vert="horz" lIns="91440" tIns="45720" rIns="91440" bIns="45720" rtlCol="0" anchor="ctr">
            <a:normAutofit/>
          </a:bodyPr>
          <a:lstStyle/>
          <a:p>
            <a:pPr algn="just" defTabSz="457200">
              <a:spcBef>
                <a:spcPct val="20000"/>
              </a:spcBef>
              <a:spcAft>
                <a:spcPts val="600"/>
              </a:spcAft>
              <a:buClr>
                <a:schemeClr val="accent1"/>
              </a:buClr>
              <a:buSzPct val="92000"/>
            </a:pPr>
            <a:r>
              <a:rPr lang="en-US" b="0" i="0" dirty="0">
                <a:solidFill>
                  <a:schemeClr val="tx1">
                    <a:lumMod val="75000"/>
                    <a:lumOff val="25000"/>
                  </a:schemeClr>
                </a:solidFill>
                <a:effectLst/>
              </a:rPr>
              <a:t>We implemented in our code to graphically view the learned sequence and testing sequence with anomaly using plots. Functionality can be found in </a:t>
            </a:r>
            <a:r>
              <a:rPr lang="en-US" b="0" i="0" u="sng" dirty="0" err="1">
                <a:solidFill>
                  <a:schemeClr val="tx1">
                    <a:lumMod val="75000"/>
                    <a:lumOff val="25000"/>
                  </a:schemeClr>
                </a:solidFill>
                <a:effectLst/>
                <a:hlinkClick r:id="rId3"/>
              </a:rPr>
              <a:t>AnomalyGraphs</a:t>
            </a:r>
            <a:r>
              <a:rPr lang="en-US" b="0" i="0" u="sng" dirty="0">
                <a:solidFill>
                  <a:schemeClr val="tx1">
                    <a:lumMod val="75000"/>
                    <a:lumOff val="25000"/>
                  </a:schemeClr>
                </a:solidFill>
                <a:effectLst/>
              </a:rPr>
              <a:t> </a:t>
            </a:r>
            <a:r>
              <a:rPr lang="en-US" b="0" i="0" dirty="0">
                <a:solidFill>
                  <a:schemeClr val="tx1">
                    <a:lumMod val="75000"/>
                    <a:lumOff val="25000"/>
                  </a:schemeClr>
                </a:solidFill>
                <a:effectLst/>
              </a:rPr>
              <a:t>class. All the output result plots can be found in html format in output folder.</a:t>
            </a:r>
          </a:p>
          <a:p>
            <a:pPr algn="just" defTabSz="457200">
              <a:spcBef>
                <a:spcPct val="20000"/>
              </a:spcBef>
              <a:spcAft>
                <a:spcPts val="600"/>
              </a:spcAft>
              <a:buClr>
                <a:schemeClr val="accent1"/>
              </a:buClr>
              <a:buSzPct val="92000"/>
            </a:pPr>
            <a:r>
              <a:rPr lang="en-US" b="0" i="0" dirty="0">
                <a:solidFill>
                  <a:schemeClr val="tx1">
                    <a:lumMod val="75000"/>
                    <a:lumOff val="25000"/>
                  </a:schemeClr>
                </a:solidFill>
                <a:effectLst/>
              </a:rPr>
              <a:t>We generated 2 kinds of plots-</a:t>
            </a:r>
          </a:p>
          <a:p>
            <a:pPr marL="285750" indent="-285750" algn="just" defTabSz="457200">
              <a:spcBef>
                <a:spcPct val="20000"/>
              </a:spcBef>
              <a:spcAft>
                <a:spcPts val="600"/>
              </a:spcAft>
              <a:buClr>
                <a:schemeClr val="accent1"/>
              </a:buClr>
              <a:buSzPct val="92000"/>
              <a:buFont typeface="Wingdings" panose="05000000000000000000" pitchFamily="2" charset="2"/>
              <a:buChar char="Ø"/>
            </a:pPr>
            <a:r>
              <a:rPr lang="en-US" b="0" i="0" dirty="0">
                <a:solidFill>
                  <a:schemeClr val="tx1">
                    <a:lumMod val="75000"/>
                    <a:lumOff val="25000"/>
                  </a:schemeClr>
                </a:solidFill>
                <a:effectLst/>
              </a:rPr>
              <a:t>Actual and Predicting sequence</a:t>
            </a:r>
          </a:p>
          <a:p>
            <a:pPr marL="285750" indent="-285750" algn="just" defTabSz="457200">
              <a:spcBef>
                <a:spcPct val="20000"/>
              </a:spcBef>
              <a:spcAft>
                <a:spcPts val="600"/>
              </a:spcAft>
              <a:buClr>
                <a:schemeClr val="accent1"/>
              </a:buClr>
              <a:buSzPct val="92000"/>
              <a:buFont typeface="Wingdings" panose="05000000000000000000" pitchFamily="2" charset="2"/>
              <a:buChar char="Ø"/>
            </a:pPr>
            <a:r>
              <a:rPr lang="en-US" b="0" i="0" dirty="0">
                <a:solidFill>
                  <a:schemeClr val="tx1">
                    <a:lumMod val="75000"/>
                    <a:lumOff val="25000"/>
                  </a:schemeClr>
                </a:solidFill>
                <a:effectLst/>
              </a:rPr>
              <a:t>Actual and Predicting sequence with anomalies</a:t>
            </a:r>
          </a:p>
          <a:p>
            <a:pPr algn="just" defTabSz="457200">
              <a:spcBef>
                <a:spcPct val="20000"/>
              </a:spcBef>
              <a:spcAft>
                <a:spcPts val="600"/>
              </a:spcAft>
              <a:buClr>
                <a:schemeClr val="accent1"/>
              </a:buClr>
              <a:buSzPct val="92000"/>
            </a:pPr>
            <a:r>
              <a:rPr lang="en-US" b="0" i="0" dirty="0">
                <a:solidFill>
                  <a:schemeClr val="tx1">
                    <a:lumMod val="75000"/>
                    <a:lumOff val="25000"/>
                  </a:schemeClr>
                </a:solidFill>
                <a:effectLst/>
              </a:rPr>
              <a:t>In this picture, Actual and Predicting sequence with anomalies </a:t>
            </a:r>
            <a:r>
              <a:rPr lang="en-US" dirty="0">
                <a:solidFill>
                  <a:schemeClr val="tx1">
                    <a:lumMod val="75000"/>
                    <a:lumOff val="25000"/>
                  </a:schemeClr>
                </a:solidFill>
              </a:rPr>
              <a:t>has been shown.</a:t>
            </a:r>
            <a:endParaRPr lang="en-US" b="0" i="0" dirty="0">
              <a:solidFill>
                <a:schemeClr val="tx1">
                  <a:lumMod val="75000"/>
                  <a:lumOff val="25000"/>
                </a:schemeClr>
              </a:solidFill>
              <a:effectLst/>
            </a:endParaRPr>
          </a:p>
        </p:txBody>
      </p:sp>
      <p:sp>
        <p:nvSpPr>
          <p:cNvPr id="5" name="Slide Number Placeholder 4">
            <a:extLst>
              <a:ext uri="{FF2B5EF4-FFF2-40B4-BE49-F238E27FC236}">
                <a16:creationId xmlns="" xmlns:a16="http://schemas.microsoft.com/office/drawing/2014/main" id="{A33647A0-44F1-9D46-DEDA-7D57BDE584AE}"/>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defTabSz="457200">
              <a:spcAft>
                <a:spcPts val="600"/>
              </a:spcAft>
            </a:pPr>
            <a:fld id="{3A98EE3D-8CD1-4C3F-BD1C-C98C9596463C}" type="slidenum">
              <a:rPr lang="en-US" smtClean="0">
                <a:solidFill>
                  <a:srgbClr val="FD9C00"/>
                </a:solidFill>
              </a:rPr>
              <a:pPr defTabSz="457200">
                <a:spcAft>
                  <a:spcPts val="600"/>
                </a:spcAft>
              </a:pPr>
              <a:t>19</a:t>
            </a:fld>
            <a:endParaRPr lang="en-US">
              <a:solidFill>
                <a:srgbClr val="FD9C00"/>
              </a:solidFill>
            </a:endParaRPr>
          </a:p>
        </p:txBody>
      </p:sp>
    </p:spTree>
    <p:extLst>
      <p:ext uri="{BB962C8B-B14F-4D97-AF65-F5344CB8AC3E}">
        <p14:creationId xmlns:p14="http://schemas.microsoft.com/office/powerpoint/2010/main" val="453616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552AA8-AD52-0CD3-A2E5-1B7B13E2F1C5}"/>
              </a:ext>
            </a:extLst>
          </p:cNvPr>
          <p:cNvSpPr>
            <a:spLocks noGrp="1"/>
          </p:cNvSpPr>
          <p:nvPr>
            <p:ph type="title"/>
          </p:nvPr>
        </p:nvSpPr>
        <p:spPr/>
        <p:txBody>
          <a:bodyPr/>
          <a:lstStyle/>
          <a:p>
            <a:r>
              <a:rPr lang="de-DE" dirty="0"/>
              <a:t>Results (Cont.)</a:t>
            </a:r>
          </a:p>
        </p:txBody>
      </p:sp>
      <p:sp>
        <p:nvSpPr>
          <p:cNvPr id="3" name="Content Placeholder 2">
            <a:extLst>
              <a:ext uri="{FF2B5EF4-FFF2-40B4-BE49-F238E27FC236}">
                <a16:creationId xmlns="" xmlns:a16="http://schemas.microsoft.com/office/drawing/2014/main" id="{78AE73C6-18B9-246F-2A94-5ACD74994257}"/>
              </a:ext>
            </a:extLst>
          </p:cNvPr>
          <p:cNvSpPr>
            <a:spLocks noGrp="1"/>
          </p:cNvSpPr>
          <p:nvPr>
            <p:ph idx="1"/>
          </p:nvPr>
        </p:nvSpPr>
        <p:spPr>
          <a:xfrm>
            <a:off x="581192" y="2340864"/>
            <a:ext cx="11029615" cy="2784809"/>
          </a:xfrm>
        </p:spPr>
        <p:txBody>
          <a:bodyPr/>
          <a:lstStyle/>
          <a:p>
            <a:pPr marL="0" indent="0" algn="just">
              <a:buNone/>
            </a:pPr>
            <a:r>
              <a:rPr lang="en-US" b="0" i="0" dirty="0">
                <a:solidFill>
                  <a:srgbClr val="1F2328"/>
                </a:solidFill>
                <a:effectLst/>
                <a:latin typeface="Franklin Gothic Book (Body)"/>
              </a:rPr>
              <a:t>The accuracy rate ranges from 50% to 70%. In anomaly detection algorithms, higher accuracy is preferred. However, hardware limitations restrict us from running programs with extensive cycles and sequences. Increasing the number of data sequences and cycles could improve accuracy.</a:t>
            </a:r>
          </a:p>
          <a:p>
            <a:pPr marL="0" indent="0" algn="just">
              <a:buNone/>
            </a:pPr>
            <a:r>
              <a:rPr lang="en-US" b="0" i="0" dirty="0">
                <a:solidFill>
                  <a:srgbClr val="1F2328"/>
                </a:solidFill>
                <a:effectLst/>
                <a:latin typeface="Franklin Gothic Book (Body)"/>
              </a:rPr>
              <a:t>Accuracy also depends on factors such as data quantity, data quality, and hyperparameter tuning. To achieve optimal results, more training data should be used, and hyperparameters should be further refined. Due to scheduling and processing constraints, we used a limited number of numerical sequences for this sample project. Expanding resources, such as leveraging cloud computing, could help enhance performance.</a:t>
            </a:r>
          </a:p>
          <a:p>
            <a:endParaRPr lang="de-DE" dirty="0"/>
          </a:p>
        </p:txBody>
      </p:sp>
      <p:sp>
        <p:nvSpPr>
          <p:cNvPr id="4" name="Footer Placeholder 3">
            <a:extLst>
              <a:ext uri="{FF2B5EF4-FFF2-40B4-BE49-F238E27FC236}">
                <a16:creationId xmlns="" xmlns:a16="http://schemas.microsoft.com/office/drawing/2014/main" id="{6CB1DE9F-DCBB-F331-79BA-42FDD9517845}"/>
              </a:ext>
            </a:extLst>
          </p:cNvPr>
          <p:cNvSpPr>
            <a:spLocks noGrp="1"/>
          </p:cNvSpPr>
          <p:nvPr>
            <p:ph type="ftr" sz="quarter" idx="11"/>
          </p:nvPr>
        </p:nvSpPr>
        <p:spPr/>
        <p:txBody>
          <a:bodyPr/>
          <a:lstStyle/>
          <a:p>
            <a:r>
              <a:rPr lang="en-US"/>
              <a:t>Unit Test Code Coverage</a:t>
            </a:r>
            <a:endParaRPr lang="en-US" dirty="0"/>
          </a:p>
        </p:txBody>
      </p:sp>
      <p:sp>
        <p:nvSpPr>
          <p:cNvPr id="5" name="Slide Number Placeholder 4">
            <a:extLst>
              <a:ext uri="{FF2B5EF4-FFF2-40B4-BE49-F238E27FC236}">
                <a16:creationId xmlns="" xmlns:a16="http://schemas.microsoft.com/office/drawing/2014/main" id="{F1570762-D396-C690-DC0E-F16905A88CB4}"/>
              </a:ext>
            </a:extLst>
          </p:cNvPr>
          <p:cNvSpPr>
            <a:spLocks noGrp="1"/>
          </p:cNvSpPr>
          <p:nvPr>
            <p:ph type="sldNum" sz="quarter" idx="12"/>
          </p:nvPr>
        </p:nvSpPr>
        <p:spPr/>
        <p:txBody>
          <a:bodyPr/>
          <a:lstStyle/>
          <a:p>
            <a:fld id="{3A98EE3D-8CD1-4C3F-BD1C-C98C9596463C}" type="slidenum">
              <a:rPr lang="en-US" smtClean="0"/>
              <a:t>20</a:t>
            </a:fld>
            <a:endParaRPr lang="en-US" dirty="0"/>
          </a:p>
        </p:txBody>
      </p:sp>
    </p:spTree>
    <p:extLst>
      <p:ext uri="{BB962C8B-B14F-4D97-AF65-F5344CB8AC3E}">
        <p14:creationId xmlns:p14="http://schemas.microsoft.com/office/powerpoint/2010/main" val="1849287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 xmlns:a16="http://schemas.microsoft.com/office/drawing/2014/main" id="{F92989FB-1024-49B7-BDF1-B3CE27D4862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3">
            <a:extLst>
              <a:ext uri="{FF2B5EF4-FFF2-40B4-BE49-F238E27FC236}">
                <a16:creationId xmlns="" xmlns:a16="http://schemas.microsoft.com/office/drawing/2014/main" id="{AA9E537E-8F1D-CE1E-C433-D916E2A818CB}"/>
              </a:ext>
            </a:extLst>
          </p:cNvPr>
          <p:cNvSpPr txBox="1">
            <a:spLocks/>
          </p:cNvSpPr>
          <p:nvPr/>
        </p:nvSpPr>
        <p:spPr>
          <a:xfrm>
            <a:off x="746228" y="1037967"/>
            <a:ext cx="3054091" cy="4709131"/>
          </a:xfrm>
          <a:prstGeom prst="rect">
            <a:avLst/>
          </a:prstGeom>
        </p:spPr>
        <p:txBody>
          <a:bodyPr vert="horz" lIns="91440" tIns="45720" rIns="91440" bIns="45720" rtlCol="0" anchor="ctr"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b="0" kern="1200" cap="all" dirty="0">
                <a:solidFill>
                  <a:schemeClr val="tx1">
                    <a:lumMod val="75000"/>
                    <a:lumOff val="25000"/>
                  </a:schemeClr>
                </a:solidFill>
                <a:latin typeface="+mj-lt"/>
                <a:ea typeface="+mj-ea"/>
                <a:cs typeface="+mj-cs"/>
              </a:rPr>
              <a:t>conclusion</a:t>
            </a:r>
          </a:p>
        </p:txBody>
      </p:sp>
      <p:sp>
        <p:nvSpPr>
          <p:cNvPr id="15" name="Rectangle 14">
            <a:extLst>
              <a:ext uri="{FF2B5EF4-FFF2-40B4-BE49-F238E27FC236}">
                <a16:creationId xmlns="" xmlns:a16="http://schemas.microsoft.com/office/drawing/2014/main" id="{2987D6F4-EC95-4EF1-A8AD-4B70386CEE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 xmlns:a16="http://schemas.microsoft.com/office/drawing/2014/main" id="{F5F792DF-9D0A-4DB6-9A9E-7312F5A7E87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74980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Slide Number Placeholder 4">
            <a:extLst>
              <a:ext uri="{FF2B5EF4-FFF2-40B4-BE49-F238E27FC236}">
                <a16:creationId xmlns="" xmlns:a16="http://schemas.microsoft.com/office/drawing/2014/main" id="{2687D6E6-D5FA-4C9E-C76D-CC433D92DBC4}"/>
              </a:ext>
            </a:extLst>
          </p:cNvPr>
          <p:cNvSpPr>
            <a:spLocks noGrp="1"/>
          </p:cNvSpPr>
          <p:nvPr>
            <p:ph type="sldNum" sz="quarter" idx="12"/>
          </p:nvPr>
        </p:nvSpPr>
        <p:spPr>
          <a:xfrm>
            <a:off x="10558300" y="6423914"/>
            <a:ext cx="1052510" cy="365125"/>
          </a:xfrm>
        </p:spPr>
        <p:txBody>
          <a:bodyPr vert="horz" lIns="91440" tIns="45720" rIns="91440" bIns="45720" rtlCol="0" anchor="ctr">
            <a:normAutofit/>
          </a:bodyPr>
          <a:lstStyle/>
          <a:p>
            <a:pPr defTabSz="457200">
              <a:spcAft>
                <a:spcPts val="600"/>
              </a:spcAft>
            </a:pPr>
            <a:fld id="{3A98EE3D-8CD1-4C3F-BD1C-C98C9596463C}" type="slidenum">
              <a:rPr lang="en-US" smtClean="0"/>
              <a:pPr defTabSz="457200">
                <a:spcAft>
                  <a:spcPts val="600"/>
                </a:spcAft>
              </a:pPr>
              <a:t>21</a:t>
            </a:fld>
            <a:endParaRPr lang="en-US"/>
          </a:p>
        </p:txBody>
      </p:sp>
      <p:graphicFrame>
        <p:nvGraphicFramePr>
          <p:cNvPr id="9" name="TextBox 5">
            <a:extLst>
              <a:ext uri="{FF2B5EF4-FFF2-40B4-BE49-F238E27FC236}">
                <a16:creationId xmlns="" xmlns:a16="http://schemas.microsoft.com/office/drawing/2014/main" id="{709B36D5-304B-E3C2-32E9-CB75C78D55FA}"/>
              </a:ext>
            </a:extLst>
          </p:cNvPr>
          <p:cNvGraphicFramePr/>
          <p:nvPr>
            <p:extLst>
              <p:ext uri="{D42A27DB-BD31-4B8C-83A1-F6EECF244321}">
                <p14:modId xmlns:p14="http://schemas.microsoft.com/office/powerpoint/2010/main" val="1468305397"/>
              </p:ext>
            </p:extLst>
          </p:nvPr>
        </p:nvGraphicFramePr>
        <p:xfrm>
          <a:off x="4598438" y="1207783"/>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1376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 xmlns:a16="http://schemas.microsoft.com/office/drawing/2014/main" id="{7B055CAA-2668-4929-8202-DBD35A78E8E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3">
            <a:extLst>
              <a:ext uri="{FF2B5EF4-FFF2-40B4-BE49-F238E27FC236}">
                <a16:creationId xmlns="" xmlns:a16="http://schemas.microsoft.com/office/drawing/2014/main" id="{AA9E537E-8F1D-CE1E-C433-D916E2A818CB}"/>
              </a:ext>
            </a:extLst>
          </p:cNvPr>
          <p:cNvSpPr txBox="1">
            <a:spLocks/>
          </p:cNvSpPr>
          <p:nvPr/>
        </p:nvSpPr>
        <p:spPr>
          <a:xfrm>
            <a:off x="4241830" y="702156"/>
            <a:ext cx="7368978" cy="1188720"/>
          </a:xfrm>
          <a:prstGeom prst="rect">
            <a:avLst/>
          </a:prstGeom>
        </p:spPr>
        <p:txBody>
          <a:bodyPr vert="horz" lIns="91440" tIns="45720" rIns="91440" bIns="45720" rtlCol="0" anchor="b"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a:t>references</a:t>
            </a:r>
          </a:p>
        </p:txBody>
      </p:sp>
      <p:sp>
        <p:nvSpPr>
          <p:cNvPr id="44" name="Rectangle 43">
            <a:extLst>
              <a:ext uri="{FF2B5EF4-FFF2-40B4-BE49-F238E27FC236}">
                <a16:creationId xmlns="" xmlns:a16="http://schemas.microsoft.com/office/drawing/2014/main" id="{38F88ED4-721F-4A25-9A68-66C57B1F8D0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46" name="Rectangle 45">
            <a:extLst>
              <a:ext uri="{FF2B5EF4-FFF2-40B4-BE49-F238E27FC236}">
                <a16:creationId xmlns="" xmlns:a16="http://schemas.microsoft.com/office/drawing/2014/main" id="{3A5A85F2-11BA-4322-9355-08C0DEC780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48" name="Rectangle 47">
            <a:extLst>
              <a:ext uri="{FF2B5EF4-FFF2-40B4-BE49-F238E27FC236}">
                <a16:creationId xmlns="" xmlns:a16="http://schemas.microsoft.com/office/drawing/2014/main" id="{1A88A0CA-0BDB-4A19-A648-638BE196B2B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pic>
        <p:nvPicPr>
          <p:cNvPr id="26" name="Graphic 25" descr="Ruble">
            <a:extLst>
              <a:ext uri="{FF2B5EF4-FFF2-40B4-BE49-F238E27FC236}">
                <a16:creationId xmlns="" xmlns:a16="http://schemas.microsoft.com/office/drawing/2014/main" id="{E276D4C1-19B1-F641-96D9-81786708F1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581192" y="1862594"/>
            <a:ext cx="3194595" cy="3194595"/>
          </a:xfrm>
          <a:prstGeom prst="rect">
            <a:avLst/>
          </a:prstGeom>
        </p:spPr>
      </p:pic>
      <p:sp>
        <p:nvSpPr>
          <p:cNvPr id="9" name="TextBox 8">
            <a:extLst>
              <a:ext uri="{FF2B5EF4-FFF2-40B4-BE49-F238E27FC236}">
                <a16:creationId xmlns="" xmlns:a16="http://schemas.microsoft.com/office/drawing/2014/main" id="{3851D869-D97C-35D8-125C-1C682DD5E824}"/>
              </a:ext>
            </a:extLst>
          </p:cNvPr>
          <p:cNvSpPr txBox="1"/>
          <p:nvPr/>
        </p:nvSpPr>
        <p:spPr>
          <a:xfrm>
            <a:off x="3891857" y="2040835"/>
            <a:ext cx="7368978" cy="3934515"/>
          </a:xfrm>
          <a:prstGeom prst="rect">
            <a:avLst/>
          </a:prstGeom>
        </p:spPr>
        <p:txBody>
          <a:bodyPr vert="horz" lIns="91440" tIns="45720" rIns="91440" bIns="45720" rtlCol="0" anchor="ctr">
            <a:normAutofit/>
          </a:bodyPr>
          <a:lstStyle/>
          <a:p>
            <a:pPr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000" dirty="0">
                <a:solidFill>
                  <a:schemeClr val="tx1">
                    <a:lumMod val="75000"/>
                    <a:lumOff val="25000"/>
                  </a:schemeClr>
                </a:solidFill>
              </a:rPr>
              <a:t>[1]	Y. Cui, S. Ahmed, and J. Hawkins, “The HTM Spatial Pooler—A Neocortical Algorithm for Online Sparse Distributed Coding,” Front. </a:t>
            </a:r>
            <a:r>
              <a:rPr lang="en-US" sz="1000" dirty="0" err="1">
                <a:solidFill>
                  <a:schemeClr val="tx1">
                    <a:lumMod val="75000"/>
                    <a:lumOff val="25000"/>
                  </a:schemeClr>
                </a:solidFill>
              </a:rPr>
              <a:t>Comput</a:t>
            </a:r>
            <a:r>
              <a:rPr lang="en-US" sz="1000" dirty="0">
                <a:solidFill>
                  <a:schemeClr val="tx1">
                    <a:lumMod val="75000"/>
                    <a:lumOff val="25000"/>
                  </a:schemeClr>
                </a:solidFill>
              </a:rPr>
              <a:t>.  	</a:t>
            </a:r>
            <a:r>
              <a:rPr lang="en-US" sz="1000" dirty="0" err="1">
                <a:solidFill>
                  <a:schemeClr val="tx1">
                    <a:lumMod val="75000"/>
                    <a:lumOff val="25000"/>
                  </a:schemeClr>
                </a:solidFill>
              </a:rPr>
              <a:t>Neurosci</a:t>
            </a:r>
            <a:r>
              <a:rPr lang="en-US" sz="1000" dirty="0">
                <a:solidFill>
                  <a:schemeClr val="tx1">
                    <a:lumMod val="75000"/>
                    <a:lumOff val="25000"/>
                  </a:schemeClr>
                </a:solidFill>
              </a:rPr>
              <a:t>. November 2017, vol. 11-2017, </a:t>
            </a:r>
            <a:r>
              <a:rPr lang="en-US" sz="1000" dirty="0" err="1">
                <a:solidFill>
                  <a:schemeClr val="tx1">
                    <a:lumMod val="75000"/>
                    <a:lumOff val="25000"/>
                  </a:schemeClr>
                </a:solidFill>
              </a:rPr>
              <a:t>doi</a:t>
            </a:r>
            <a:r>
              <a:rPr lang="en-US" sz="1000" dirty="0">
                <a:solidFill>
                  <a:schemeClr val="tx1">
                    <a:lumMod val="75000"/>
                    <a:lumOff val="25000"/>
                  </a:schemeClr>
                </a:solidFill>
              </a:rPr>
              <a:t>: 10.3389/fncom.2017.00111.</a:t>
            </a: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0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000" dirty="0">
                <a:solidFill>
                  <a:schemeClr val="tx1">
                    <a:lumMod val="75000"/>
                    <a:lumOff val="25000"/>
                  </a:schemeClr>
                </a:solidFill>
              </a:rPr>
              <a:t>[2]	Ahmad, S., Lavin, A., Purdy, S., and Agha, Z. (2017). Unsupervised real-time anomaly detection for streaming data. Neurocomputing 262, 134–147. 	</a:t>
            </a:r>
            <a:r>
              <a:rPr lang="en-US" sz="1000" dirty="0" err="1">
                <a:solidFill>
                  <a:schemeClr val="tx1">
                    <a:lumMod val="75000"/>
                    <a:lumOff val="25000"/>
                  </a:schemeClr>
                </a:solidFill>
              </a:rPr>
              <a:t>doi</a:t>
            </a:r>
            <a:r>
              <a:rPr lang="en-US" sz="1000" dirty="0">
                <a:solidFill>
                  <a:schemeClr val="tx1">
                    <a:lumMod val="75000"/>
                    <a:lumOff val="25000"/>
                  </a:schemeClr>
                </a:solidFill>
              </a:rPr>
              <a:t>: 10.1016/j.neucom.2017.04.070.</a:t>
            </a: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0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000" dirty="0">
                <a:solidFill>
                  <a:schemeClr val="tx1">
                    <a:lumMod val="75000"/>
                    <a:lumOff val="25000"/>
                  </a:schemeClr>
                </a:solidFill>
              </a:rPr>
              <a:t>[3]	</a:t>
            </a:r>
            <a:r>
              <a:rPr lang="en-US" sz="1000" dirty="0" err="1">
                <a:solidFill>
                  <a:schemeClr val="tx1">
                    <a:lumMod val="75000"/>
                    <a:lumOff val="25000"/>
                  </a:schemeClr>
                </a:solidFill>
              </a:rPr>
              <a:t>Mnatzaganian</a:t>
            </a:r>
            <a:r>
              <a:rPr lang="en-US" sz="1000" dirty="0">
                <a:solidFill>
                  <a:schemeClr val="tx1">
                    <a:lumMod val="75000"/>
                    <a:lumOff val="25000"/>
                  </a:schemeClr>
                </a:solidFill>
              </a:rPr>
              <a:t>, J., </a:t>
            </a:r>
            <a:r>
              <a:rPr lang="en-US" sz="1000" dirty="0" err="1">
                <a:solidFill>
                  <a:schemeClr val="tx1">
                    <a:lumMod val="75000"/>
                    <a:lumOff val="25000"/>
                  </a:schemeClr>
                </a:solidFill>
              </a:rPr>
              <a:t>Fokoué</a:t>
            </a:r>
            <a:r>
              <a:rPr lang="en-US" sz="1000" dirty="0">
                <a:solidFill>
                  <a:schemeClr val="tx1">
                    <a:lumMod val="75000"/>
                    <a:lumOff val="25000"/>
                  </a:schemeClr>
                </a:solidFill>
              </a:rPr>
              <a:t>, E., and </a:t>
            </a:r>
            <a:r>
              <a:rPr lang="en-US" sz="1000" dirty="0" err="1">
                <a:solidFill>
                  <a:schemeClr val="tx1">
                    <a:lumMod val="75000"/>
                    <a:lumOff val="25000"/>
                  </a:schemeClr>
                </a:solidFill>
              </a:rPr>
              <a:t>Kudithipudi</a:t>
            </a:r>
            <a:r>
              <a:rPr lang="en-US" sz="1000" dirty="0">
                <a:solidFill>
                  <a:schemeClr val="tx1">
                    <a:lumMod val="75000"/>
                    <a:lumOff val="25000"/>
                  </a:schemeClr>
                </a:solidFill>
              </a:rPr>
              <a:t>, D. (2017). A mathematical formalization of hierarchical temporal memory's spatial pooler. Front. 	Robot. AI 3:81. </a:t>
            </a:r>
            <a:r>
              <a:rPr lang="en-US" sz="1000" dirty="0" err="1">
                <a:solidFill>
                  <a:schemeClr val="tx1">
                    <a:lumMod val="75000"/>
                    <a:lumOff val="25000"/>
                  </a:schemeClr>
                </a:solidFill>
              </a:rPr>
              <a:t>doi</a:t>
            </a:r>
            <a:r>
              <a:rPr lang="en-US" sz="1000" dirty="0">
                <a:solidFill>
                  <a:schemeClr val="tx1">
                    <a:lumMod val="75000"/>
                    <a:lumOff val="25000"/>
                  </a:schemeClr>
                </a:solidFill>
              </a:rPr>
              <a:t>: 10.3389/frobt.2016.00081.</a:t>
            </a: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0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000" dirty="0">
                <a:solidFill>
                  <a:schemeClr val="tx1">
                    <a:lumMod val="75000"/>
                    <a:lumOff val="25000"/>
                  </a:schemeClr>
                </a:solidFill>
              </a:rPr>
              <a:t>[4]	K. Mountcastle, V. B. (1997). The columnar organization of the neocortex. Brain 120, 701–722. </a:t>
            </a:r>
            <a:r>
              <a:rPr lang="en-US" sz="1000" dirty="0" err="1">
                <a:solidFill>
                  <a:schemeClr val="tx1">
                    <a:lumMod val="75000"/>
                    <a:lumOff val="25000"/>
                  </a:schemeClr>
                </a:solidFill>
              </a:rPr>
              <a:t>doi</a:t>
            </a:r>
            <a:r>
              <a:rPr lang="en-US" sz="1000" dirty="0">
                <a:solidFill>
                  <a:schemeClr val="tx1">
                    <a:lumMod val="75000"/>
                    <a:lumOff val="25000"/>
                  </a:schemeClr>
                </a:solidFill>
              </a:rPr>
              <a:t>: 10.1093/brain/120.4.701.</a:t>
            </a: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0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000" dirty="0">
                <a:solidFill>
                  <a:schemeClr val="tx1">
                    <a:lumMod val="75000"/>
                    <a:lumOff val="25000"/>
                  </a:schemeClr>
                </a:solidFill>
              </a:rPr>
              <a:t>[5]	</a:t>
            </a:r>
            <a:r>
              <a:rPr lang="en-US" sz="1000" dirty="0" err="1">
                <a:solidFill>
                  <a:schemeClr val="tx1">
                    <a:lumMod val="75000"/>
                    <a:lumOff val="25000"/>
                  </a:schemeClr>
                </a:solidFill>
              </a:rPr>
              <a:t>Olshausen</a:t>
            </a:r>
            <a:r>
              <a:rPr lang="en-US" sz="1000" dirty="0">
                <a:solidFill>
                  <a:schemeClr val="tx1">
                    <a:lumMod val="75000"/>
                    <a:lumOff val="25000"/>
                  </a:schemeClr>
                </a:solidFill>
              </a:rPr>
              <a:t>, B. A., and Field, D. J. (2004). Sparse coding of sensory inputs. Curr. </a:t>
            </a:r>
            <a:r>
              <a:rPr lang="en-US" sz="1000" dirty="0" err="1">
                <a:solidFill>
                  <a:schemeClr val="tx1">
                    <a:lumMod val="75000"/>
                    <a:lumOff val="25000"/>
                  </a:schemeClr>
                </a:solidFill>
              </a:rPr>
              <a:t>Opin</a:t>
            </a:r>
            <a:r>
              <a:rPr lang="en-US" sz="1000" dirty="0">
                <a:solidFill>
                  <a:schemeClr val="tx1">
                    <a:lumMod val="75000"/>
                    <a:lumOff val="25000"/>
                  </a:schemeClr>
                </a:solidFill>
              </a:rPr>
              <a:t>. </a:t>
            </a:r>
            <a:r>
              <a:rPr lang="en-US" sz="1000" dirty="0" err="1">
                <a:solidFill>
                  <a:schemeClr val="tx1">
                    <a:lumMod val="75000"/>
                    <a:lumOff val="25000"/>
                  </a:schemeClr>
                </a:solidFill>
              </a:rPr>
              <a:t>Neurobiol</a:t>
            </a:r>
            <a:r>
              <a:rPr lang="en-US" sz="1000" dirty="0">
                <a:solidFill>
                  <a:schemeClr val="tx1">
                    <a:lumMod val="75000"/>
                    <a:lumOff val="25000"/>
                  </a:schemeClr>
                </a:solidFill>
              </a:rPr>
              <a:t>. 14, 481–487. </a:t>
            </a:r>
            <a:r>
              <a:rPr lang="en-US" sz="1000" dirty="0" err="1">
                <a:solidFill>
                  <a:schemeClr val="tx1">
                    <a:lumMod val="75000"/>
                    <a:lumOff val="25000"/>
                  </a:schemeClr>
                </a:solidFill>
              </a:rPr>
              <a:t>doi</a:t>
            </a:r>
            <a:r>
              <a:rPr lang="en-US" sz="1000" dirty="0">
                <a:solidFill>
                  <a:schemeClr val="tx1">
                    <a:lumMod val="75000"/>
                    <a:lumOff val="25000"/>
                  </a:schemeClr>
                </a:solidFill>
              </a:rPr>
              <a:t>: 10.1016/j.conb.2004.07.007.</a:t>
            </a: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0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000" dirty="0">
                <a:solidFill>
                  <a:schemeClr val="tx1">
                    <a:lumMod val="75000"/>
                    <a:lumOff val="25000"/>
                  </a:schemeClr>
                </a:solidFill>
              </a:rPr>
              <a:t>[6]	Y. Cui, S. Ahmed, and J. Hawkins, “Continuous online sequence learning with an unsupervised neural network model,” Neural Computation, Volume 	28, Issue 11, November 2016, pp 2474–2504, </a:t>
            </a:r>
            <a:r>
              <a:rPr lang="en-US" sz="1000" dirty="0" err="1">
                <a:solidFill>
                  <a:schemeClr val="tx1">
                    <a:lumMod val="75000"/>
                    <a:lumOff val="25000"/>
                  </a:schemeClr>
                </a:solidFill>
              </a:rPr>
              <a:t>doi</a:t>
            </a:r>
            <a:r>
              <a:rPr lang="en-US" sz="1000" dirty="0">
                <a:solidFill>
                  <a:schemeClr val="tx1">
                    <a:lumMod val="75000"/>
                    <a:lumOff val="25000"/>
                  </a:schemeClr>
                </a:solidFill>
              </a:rPr>
              <a:t>: 10.1162/NECO_a_00893</a:t>
            </a:r>
          </a:p>
        </p:txBody>
      </p:sp>
      <p:sp>
        <p:nvSpPr>
          <p:cNvPr id="5" name="Slide Number Placeholder 4">
            <a:extLst>
              <a:ext uri="{FF2B5EF4-FFF2-40B4-BE49-F238E27FC236}">
                <a16:creationId xmlns="" xmlns:a16="http://schemas.microsoft.com/office/drawing/2014/main" id="{2687D6E6-D5FA-4C9E-C76D-CC433D92DBC4}"/>
              </a:ext>
            </a:extLst>
          </p:cNvPr>
          <p:cNvSpPr>
            <a:spLocks noGrp="1"/>
          </p:cNvSpPr>
          <p:nvPr>
            <p:ph type="sldNum" sz="quarter" idx="12"/>
          </p:nvPr>
        </p:nvSpPr>
        <p:spPr>
          <a:xfrm>
            <a:off x="10558300" y="6423914"/>
            <a:ext cx="1052510" cy="365125"/>
          </a:xfrm>
        </p:spPr>
        <p:txBody>
          <a:bodyPr vert="horz" lIns="91440" tIns="45720" rIns="91440" bIns="45720" rtlCol="0" anchor="ctr">
            <a:normAutofit/>
          </a:bodyPr>
          <a:lstStyle/>
          <a:p>
            <a:pPr defTabSz="457200">
              <a:spcAft>
                <a:spcPts val="600"/>
              </a:spcAft>
            </a:pPr>
            <a:fld id="{3A98EE3D-8CD1-4C3F-BD1C-C98C9596463C}" type="slidenum">
              <a:rPr lang="en-US" smtClean="0"/>
              <a:pPr defTabSz="457200">
                <a:spcAft>
                  <a:spcPts val="600"/>
                </a:spcAft>
              </a:pPr>
              <a:t>22</a:t>
            </a:fld>
            <a:endParaRPr lang="en-US"/>
          </a:p>
        </p:txBody>
      </p:sp>
    </p:spTree>
    <p:extLst>
      <p:ext uri="{BB962C8B-B14F-4D97-AF65-F5344CB8AC3E}">
        <p14:creationId xmlns:p14="http://schemas.microsoft.com/office/powerpoint/2010/main" val="514274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 xmlns:a16="http://schemas.microsoft.com/office/drawing/2014/main" id="{DD651B61-325E-4E73-8445-38B0DE8AAAB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 xmlns:a16="http://schemas.microsoft.com/office/drawing/2014/main" id="{B42E5253-D3AC-4AC2-B766-8B34F13C2F5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 xmlns:a16="http://schemas.microsoft.com/office/drawing/2014/main" id="{10AE8D57-436A-4073-9A75-15BB5949F8B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 xmlns:a16="http://schemas.microsoft.com/office/drawing/2014/main" id="{E2852671-8EB6-4EAF-8AF8-65CF3FD6645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 xmlns:a16="http://schemas.microsoft.com/office/drawing/2014/main" id="{A52FF1B8-145F-47AA-9F6F-7DA3201AA6C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3">
            <a:extLst>
              <a:ext uri="{FF2B5EF4-FFF2-40B4-BE49-F238E27FC236}">
                <a16:creationId xmlns="" xmlns:a16="http://schemas.microsoft.com/office/drawing/2014/main" id="{AA9E537E-8F1D-CE1E-C433-D916E2A818CB}"/>
              </a:ext>
            </a:extLst>
          </p:cNvPr>
          <p:cNvSpPr txBox="1">
            <a:spLocks/>
          </p:cNvSpPr>
          <p:nvPr/>
        </p:nvSpPr>
        <p:spPr>
          <a:xfrm>
            <a:off x="4579243" y="1419225"/>
            <a:ext cx="6798608" cy="2346136"/>
          </a:xfrm>
          <a:prstGeom prst="rect">
            <a:avLst/>
          </a:prstGeom>
        </p:spPr>
        <p:txBody>
          <a:bodyPr vert="horz" lIns="91440" tIns="45720" rIns="91440" bIns="45720" rtlCol="0" anchor="b" anchorCtr="0">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sz="4400"/>
              <a:t>Thank you</a:t>
            </a:r>
          </a:p>
        </p:txBody>
      </p:sp>
      <p:sp>
        <p:nvSpPr>
          <p:cNvPr id="24" name="Rectangle 23">
            <a:extLst>
              <a:ext uri="{FF2B5EF4-FFF2-40B4-BE49-F238E27FC236}">
                <a16:creationId xmlns="" xmlns:a16="http://schemas.microsoft.com/office/drawing/2014/main" id="{6DFE8A8C-8C1F-40A1-8A45-9D05B0DD8EF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a:extLst>
              <a:ext uri="{FF2B5EF4-FFF2-40B4-BE49-F238E27FC236}">
                <a16:creationId xmlns="" xmlns:a16="http://schemas.microsoft.com/office/drawing/2014/main" id="{EE1EF8C3-8F8A-447D-A5FF-C124268254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 xmlns:a16="http://schemas.microsoft.com/office/drawing/2014/main" id="{1B511BAF-6DC3-420A-8603-96945C66ADB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1" name="Graphic 10" descr="Smiling Face with No Fill">
            <a:extLst>
              <a:ext uri="{FF2B5EF4-FFF2-40B4-BE49-F238E27FC236}">
                <a16:creationId xmlns="" xmlns:a16="http://schemas.microsoft.com/office/drawing/2014/main" id="{07680154-48BE-B72D-48D8-41E631E102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774700" y="2049354"/>
            <a:ext cx="3053422" cy="3053422"/>
          </a:xfrm>
          <a:prstGeom prst="rect">
            <a:avLst/>
          </a:prstGeom>
        </p:spPr>
      </p:pic>
      <p:sp>
        <p:nvSpPr>
          <p:cNvPr id="5" name="Slide Number Placeholder 4">
            <a:extLst>
              <a:ext uri="{FF2B5EF4-FFF2-40B4-BE49-F238E27FC236}">
                <a16:creationId xmlns="" xmlns:a16="http://schemas.microsoft.com/office/drawing/2014/main" id="{2687D6E6-D5FA-4C9E-C76D-CC433D92DBC4}"/>
              </a:ext>
            </a:extLst>
          </p:cNvPr>
          <p:cNvSpPr>
            <a:spLocks noGrp="1"/>
          </p:cNvSpPr>
          <p:nvPr>
            <p:ph type="sldNum" sz="quarter" idx="12"/>
          </p:nvPr>
        </p:nvSpPr>
        <p:spPr>
          <a:xfrm>
            <a:off x="10558300" y="6400800"/>
            <a:ext cx="1016440" cy="365125"/>
          </a:xfrm>
        </p:spPr>
        <p:txBody>
          <a:bodyPr vert="horz" lIns="91440" tIns="45720" rIns="91440" bIns="45720" rtlCol="0" anchor="ctr">
            <a:normAutofit/>
          </a:bodyPr>
          <a:lstStyle/>
          <a:p>
            <a:pPr defTabSz="457200">
              <a:spcAft>
                <a:spcPts val="600"/>
              </a:spcAft>
            </a:pPr>
            <a:fld id="{3A98EE3D-8CD1-4C3F-BD1C-C98C9596463C}" type="slidenum">
              <a:rPr lang="en-US">
                <a:solidFill>
                  <a:schemeClr val="tx1">
                    <a:lumMod val="85000"/>
                    <a:lumOff val="15000"/>
                  </a:schemeClr>
                </a:solidFill>
              </a:rPr>
              <a:pPr defTabSz="457200">
                <a:spcAft>
                  <a:spcPts val="600"/>
                </a:spcAft>
              </a:pPr>
              <a:t>23</a:t>
            </a:fld>
            <a:endParaRPr lang="en-US">
              <a:solidFill>
                <a:schemeClr val="tx1">
                  <a:lumMod val="85000"/>
                  <a:lumOff val="15000"/>
                </a:schemeClr>
              </a:solidFill>
            </a:endParaRPr>
          </a:p>
        </p:txBody>
      </p:sp>
    </p:spTree>
    <p:extLst>
      <p:ext uri="{BB962C8B-B14F-4D97-AF65-F5344CB8AC3E}">
        <p14:creationId xmlns:p14="http://schemas.microsoft.com/office/powerpoint/2010/main" val="238273095"/>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1432</Words>
  <Application>Microsoft Office PowerPoint</Application>
  <PresentationFormat>Widescreen</PresentationFormat>
  <Paragraphs>134</Paragraphs>
  <Slides>23</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23</vt:i4>
      </vt:variant>
    </vt:vector>
  </HeadingPairs>
  <TitlesOfParts>
    <vt:vector size="35" baseType="lpstr">
      <vt:lpstr>SimSun</vt:lpstr>
      <vt:lpstr>-apple-system</vt:lpstr>
      <vt:lpstr>Aptos</vt:lpstr>
      <vt:lpstr>Arial</vt:lpstr>
      <vt:lpstr>Calibri</vt:lpstr>
      <vt:lpstr>Franklin Gothic Book</vt:lpstr>
      <vt:lpstr>Franklin Gothic Book (Body)</vt:lpstr>
      <vt:lpstr>Franklin Gothic Demi</vt:lpstr>
      <vt:lpstr>Times New Roman</vt:lpstr>
      <vt:lpstr>Wingdings</vt:lpstr>
      <vt:lpstr>Wingdings 2</vt:lpstr>
      <vt:lpstr>DividendVTI</vt:lpstr>
      <vt:lpstr>Project Title: Implement Anomaly Detection Sample</vt:lpstr>
      <vt:lpstr>PowerPoint Presentation</vt:lpstr>
      <vt:lpstr>PowerPoint Presentation</vt:lpstr>
      <vt:lpstr>Anomaly detection</vt:lpstr>
      <vt:lpstr>PowerPoint Presentation</vt:lpstr>
      <vt:lpstr>PowerPoint Presentation</vt:lpstr>
      <vt:lpstr>PowerPoint Presentation</vt:lpstr>
      <vt:lpstr>PowerPoint Presentation</vt:lpstr>
      <vt:lpstr>PowerPoint Presentation</vt:lpstr>
      <vt:lpstr>Execution of Project</vt:lpstr>
      <vt:lpstr>Execution of Project (Cont.)</vt:lpstr>
      <vt:lpstr>Execution of Project (Cont.)</vt:lpstr>
      <vt:lpstr>Execution of Project (Cont.)</vt:lpstr>
      <vt:lpstr>Execution of Project (Cont.)</vt:lpstr>
      <vt:lpstr>Execution of Project (Cont.)</vt:lpstr>
      <vt:lpstr>Execution of Project (Cont.)</vt:lpstr>
      <vt:lpstr>Execution of Project (Cont.)</vt:lpstr>
      <vt:lpstr>PowerPoint Presentation</vt:lpstr>
      <vt:lpstr>PowerPoint Presentation</vt:lpstr>
      <vt:lpstr>Results (Cont.)</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 Anomaly Detection Sample</dc:title>
  <dc:creator/>
  <cp:lastModifiedBy>Rakib</cp:lastModifiedBy>
  <cp:revision>179</cp:revision>
  <dcterms:created xsi:type="dcterms:W3CDTF">2023-03-26T11:17:48Z</dcterms:created>
  <dcterms:modified xsi:type="dcterms:W3CDTF">2025-03-27T23:49:59Z</dcterms:modified>
</cp:coreProperties>
</file>